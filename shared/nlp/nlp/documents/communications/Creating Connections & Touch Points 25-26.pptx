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6_0.xml" ContentType="application/vnd.ms-powerpoint.comments+xml"/>
  <Override PartName="/ppt/comments/modernComment_108_0.xml" ContentType="application/vnd.ms-powerpoint.comments+xml"/>
  <Override PartName="/ppt/comments/modernComment_109_0.xml" ContentType="application/vnd.ms-powerpoint.comments+xml"/>
  <Override PartName="/ppt/comments/modernComment_10D_0.xml" ContentType="application/vnd.ms-powerpoint.comments+xml"/>
  <Override PartName="/ppt/comments/modernComment_114_0.xml" ContentType="application/vnd.ms-powerpoint.comments+xml"/>
  <Override PartName="/ppt/comments/modernComment_115_0.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x="18288000" cy="10287000"/>
  <p:notesSz cx="6858000" cy="9144000"/>
  <p:embeddedFontLst>
    <p:embeddedFont>
      <p:font typeface="Breathing" panose="02000500000000000000" charset="0"/>
      <p:regular r:id="rId28"/>
    </p:embeddedFont>
    <p:embeddedFont>
      <p:font typeface="Glacial Indifference" panose="020B0604020202020204" charset="0"/>
      <p:regular r:id="rId29"/>
    </p:embeddedFont>
    <p:embeddedFont>
      <p:font typeface="Glacial Indifference Bold" panose="020B0604020202020204" charset="0"/>
      <p:regular r:id="rId30"/>
    </p:embeddedFont>
    <p:embeddedFont>
      <p:font typeface="Open Sans" panose="020B0606030504020204" pitchFamily="34" charset="0"/>
      <p:regular r:id="rId31"/>
      <p:bold r:id="rId32"/>
      <p:italic r:id="rId33"/>
      <p:boldItalic r:id="rId34"/>
    </p:embeddedFont>
    <p:embeddedFont>
      <p:font typeface="Open Sans Bold" panose="020B0806030504020204" pitchFamily="34" charset="0"/>
      <p:regular r:id="rId35"/>
      <p:bold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E25C32A-F0FC-7787-4BDD-AA33ED424D5A}" name="Korynta, Austin L." initials="KA" userId="S::kory6708@stthomas.edu::48926211-251e-41f9-8c78-fde4bff350ff" providerId="AD"/>
  <p188:author id="{648C94B7-51F4-7E73-D3EA-6D41906AF244}" name="Thompson, Erica K." initials="EKT" userId="Thompson, Erica K."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B4CFE1-4E03-3675-8041-627497523E5A}" v="17" dt="2025-07-15T18:10:26.392"/>
    <p1510:client id="{F3612F86-8482-D591-A661-51E687CDA7BA}" v="49" dt="2025-07-15T15:15:10.3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84" y="20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font" Target="fonts/font7.fntdata"/><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2.fntdata"/><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5.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6.fntdata"/><Relationship Id="rId38" Type="http://schemas.openxmlformats.org/officeDocument/2006/relationships/viewProps" Target="viewProps.xml"/></Relationships>
</file>

<file path=ppt/comments/modernComment_10D_0.xml><?xml version="1.0" encoding="utf-8"?>
<p188:cmLst xmlns:a="http://schemas.openxmlformats.org/drawingml/2006/main" xmlns:r="http://schemas.openxmlformats.org/officeDocument/2006/relationships" xmlns:p188="http://schemas.microsoft.com/office/powerpoint/2018/8/main">
  <p188:cm id="{09D7E473-1F2E-43C9-AC54-BD01052BE185}" authorId="{648C94B7-51F4-7E73-D3EA-6D41906AF244}" status="resolved" created="2025-06-13T19:57:44.898" complete="100000">
    <ac:txMkLst xmlns:ac="http://schemas.microsoft.com/office/drawing/2013/main/command">
      <pc:docMk xmlns:pc="http://schemas.microsoft.com/office/powerpoint/2013/main/command"/>
      <pc:sldMk xmlns:pc="http://schemas.microsoft.com/office/powerpoint/2013/main/command" cId="0" sldId="269"/>
      <ac:spMk id="14" creationId="{00000000-0000-0000-0000-000000000000}"/>
      <ac:txMk cp="78" len="8">
        <ac:context len="240" hash="1508664555"/>
      </ac:txMk>
    </ac:txMkLst>
    <p188:pos x="3967002" y="2108665"/>
    <p188:txBody>
      <a:bodyPr/>
      <a:lstStyle/>
      <a:p>
        <a:r>
          <a:rPr lang="en-US"/>
          <a:t>These are great! The only one that is “iffy” would be not connecting with roommate since we also have the roommate conflict form – we could remove this and still reflect the general sense of concerns that go in this form. </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D3903B54-A389-47F1-B174-CAE50C34F50A}" authorId="{DE25C32A-F0FC-7787-4BDD-AA33ED424D5A}" status="resolved" created="2025-06-05T19:41:05.876" complete="100000">
    <ac:txMkLst xmlns:ac="http://schemas.microsoft.com/office/drawing/2013/main/command">
      <pc:docMk xmlns:pc="http://schemas.microsoft.com/office/powerpoint/2013/main/command"/>
      <pc:sldMk xmlns:pc="http://schemas.microsoft.com/office/powerpoint/2013/main/command" cId="0" sldId="262"/>
      <ac:spMk id="20" creationId="{00000000-0000-0000-0000-000000000000}"/>
      <ac:txMk cp="0" len="6">
        <ac:context len="7" hash="3658814242"/>
      </ac:txMk>
    </ac:txMkLst>
    <p188:pos x="2964050" y="658677"/>
    <p188:replyLst>
      <p188:reply id="{CA6CABBF-7D09-402E-BE68-51CBA64D3D43}" authorId="{648C94B7-51F4-7E73-D3EA-6D41906AF244}" created="2025-06-13T19:39:09.175">
        <p188:txBody>
          <a:bodyPr/>
          <a:lstStyle/>
          <a:p>
            <a:r>
              <a:rPr lang="en-US"/>
              <a:t>I think the requirements &amp; expectations can be a conversation during the Residential Connection Events session - I don’t want this session to get too into the weeds on what is expected of events when there’s other content to cover - but I welcome others’ opinions. </a:t>
            </a:r>
          </a:p>
        </p188:txBody>
      </p188:reply>
    </p188:replyLst>
    <p188:txBody>
      <a:bodyPr/>
      <a:lstStyle/>
      <a:p>
        <a:r>
          <a:rPr lang="en-US"/>
          <a:t>I wonder if it's helpful to mention event minimums and how we can have more events than just the TA required ones.</a:t>
        </a:r>
      </a:p>
    </p188:txBody>
  </p188:cm>
</p188:cmLst>
</file>

<file path=ppt/comments/modernComment_108_0.xml><?xml version="1.0" encoding="utf-8"?>
<p188:cmLst xmlns:a="http://schemas.openxmlformats.org/drawingml/2006/main" xmlns:r="http://schemas.openxmlformats.org/officeDocument/2006/relationships" xmlns:p188="http://schemas.microsoft.com/office/powerpoint/2018/8/main">
  <p188:cm id="{91007869-DD43-4799-9710-4DADF065E3EF}" authorId="{DE25C32A-F0FC-7787-4BDD-AA33ED424D5A}" status="resolved" created="2025-06-05T19:41:49.689" complete="100000">
    <ac:deMkLst xmlns:ac="http://schemas.microsoft.com/office/drawing/2013/main/command">
      <pc:docMk xmlns:pc="http://schemas.microsoft.com/office/powerpoint/2013/main/command"/>
      <pc:sldMk xmlns:pc="http://schemas.microsoft.com/office/powerpoint/2013/main/command" cId="0" sldId="264"/>
      <ac:spMk id="17" creationId="{00000000-0000-0000-0000-000000000000}"/>
    </ac:deMkLst>
    <p188:replyLst>
      <p188:reply id="{56F20D3B-73E5-4157-A036-8BF6C5D912A2}" authorId="{648C94B7-51F4-7E73-D3EA-6D41906AF244}" created="2025-06-13T19:35:55.560">
        <p188:txBody>
          <a:bodyPr/>
          <a:lstStyle/>
          <a:p>
            <a:r>
              <a:rPr lang="en-US"/>
              <a:t>I think floor dinners are implied in the “invitations to meals” ???</a:t>
            </a:r>
          </a:p>
        </p188:txBody>
      </p188:reply>
    </p188:replyLst>
    <p188:txBody>
      <a:bodyPr/>
      <a:lstStyle/>
      <a:p>
        <a:r>
          <a:rPr lang="en-US"/>
          <a:t>and other events? i.e. floor dinners</a:t>
        </a:r>
      </a:p>
    </p188:txBody>
  </p188:cm>
  <p188:cm id="{F8FBAD26-9553-4EFC-B13A-FE362C27E1B7}" authorId="{648C94B7-51F4-7E73-D3EA-6D41906AF244}" created="2025-06-13T19:41:58.466">
    <pc:sldMkLst xmlns:pc="http://schemas.microsoft.com/office/powerpoint/2013/main/command">
      <pc:docMk/>
      <pc:sldMk cId="0" sldId="264"/>
    </pc:sldMkLst>
    <p188:txBody>
      <a:bodyPr/>
      <a:lstStyle/>
      <a:p>
        <a:r>
          <a:rPr lang="en-US"/>
          <a:t>Can we make these all active verbs?
- Knocking on doors to say hello
- Making conversation in the group chat
- Inviting residents to eat together
- Hosting a game night
- Doing homework in the lounge
My additional examples:
- Spending time in your room with the door open
- Inviting residents to club or org events
- Following up on a previous conversation (i.e., How did that test go…)</a:t>
        </a:r>
      </a:p>
    </p188:txBody>
  </p188:cm>
</p188:cmLst>
</file>

<file path=ppt/comments/modernComment_109_0.xml><?xml version="1.0" encoding="utf-8"?>
<p188:cmLst xmlns:a="http://schemas.openxmlformats.org/drawingml/2006/main" xmlns:r="http://schemas.openxmlformats.org/officeDocument/2006/relationships" xmlns:p188="http://schemas.microsoft.com/office/powerpoint/2018/8/main">
  <p188:cm id="{633487C7-6761-4849-B2E4-E603937AA267}" authorId="{648C94B7-51F4-7E73-D3EA-6D41906AF244}" status="resolved" created="2025-06-13T19:43:14.514" complete="100000">
    <pc:sldMkLst xmlns:pc="http://schemas.microsoft.com/office/powerpoint/2013/main/command">
      <pc:docMk/>
      <pc:sldMk cId="0" sldId="265"/>
    </pc:sldMkLst>
    <p188:txBody>
      <a:bodyPr/>
      <a:lstStyle/>
      <a:p>
        <a:r>
          <a:rPr lang="en-US"/>
          <a:t>The lesson plan asks them to turn to a neighbor and come up with three reasons informal touch points are important - might be helpful to put those specific directions here</a:t>
        </a:r>
      </a:p>
    </p188:txBody>
  </p188:cm>
</p188:cmLst>
</file>

<file path=ppt/comments/modernComment_114_0.xml><?xml version="1.0" encoding="utf-8"?>
<p188:cmLst xmlns:a="http://schemas.openxmlformats.org/drawingml/2006/main" xmlns:r="http://schemas.openxmlformats.org/officeDocument/2006/relationships" xmlns:p188="http://schemas.microsoft.com/office/powerpoint/2018/8/main">
  <p188:cm id="{5F405BB8-01E6-4020-B790-2B0DB95A4E82}" authorId="{648C94B7-51F4-7E73-D3EA-6D41906AF244}" status="resolved" created="2025-06-13T20:00:25.754" complete="100000">
    <ac:txMkLst xmlns:ac="http://schemas.microsoft.com/office/drawing/2013/main/command">
      <pc:docMk xmlns:pc="http://schemas.microsoft.com/office/powerpoint/2013/main/command"/>
      <pc:sldMk xmlns:pc="http://schemas.microsoft.com/office/powerpoint/2013/main/command" cId="0" sldId="276"/>
      <ac:spMk id="14" creationId="{00000000-0000-0000-0000-000000000000}"/>
      <ac:txMk cp="13">
        <ac:context len="565" hash="1213488143"/>
      </ac:txMk>
    </ac:txMkLst>
    <p188:pos x="4403101" y="330713"/>
    <p188:txBody>
      <a:bodyPr/>
      <a:lstStyle/>
      <a:p>
        <a:r>
          <a:rPr lang="en-US"/>
          <a:t>Not sure we need to give them a name?</a:t>
        </a:r>
      </a:p>
    </p188:txBody>
  </p188:cm>
</p188:cmLst>
</file>

<file path=ppt/comments/modernComment_115_0.xml><?xml version="1.0" encoding="utf-8"?>
<p188:cmLst xmlns:a="http://schemas.openxmlformats.org/drawingml/2006/main" xmlns:r="http://schemas.openxmlformats.org/officeDocument/2006/relationships" xmlns:p188="http://schemas.microsoft.com/office/powerpoint/2018/8/main">
  <p188:cm id="{F856F9CC-8D94-47B2-9AA9-EC861D153AC3}" authorId="{648C94B7-51F4-7E73-D3EA-6D41906AF244}" status="resolved" created="2025-06-13T20:01:52.317" complete="100000">
    <ac:txMkLst xmlns:ac="http://schemas.microsoft.com/office/drawing/2013/main/command">
      <pc:docMk xmlns:pc="http://schemas.microsoft.com/office/powerpoint/2013/main/command"/>
      <pc:sldMk xmlns:pc="http://schemas.microsoft.com/office/powerpoint/2013/main/command" cId="0" sldId="277"/>
      <ac:spMk id="14" creationId="{00000000-0000-0000-0000-000000000000}"/>
      <ac:txMk cp="119">
        <ac:context len="641" hash="3027478237"/>
      </ac:txMk>
    </ac:txMkLst>
    <p188:pos x="9129845" y="898403"/>
    <p188:txBody>
      <a:bodyPr/>
      <a:lstStyle/>
      <a:p>
        <a:r>
          <a:rPr lang="en-US"/>
          <a:t>Not sure we need to give the resident a name?</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1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13.png"/><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13.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13.png"/><Relationship Id="rId9"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8/10/relationships/comments" Target="../comments/modernComment_106_0.xml"/><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14.svg"/><Relationship Id="rId15" Type="http://schemas.openxmlformats.org/officeDocument/2006/relationships/image" Target="../media/image18.svg"/><Relationship Id="rId10" Type="http://schemas.openxmlformats.org/officeDocument/2006/relationships/image" Target="../media/image9.png"/><Relationship Id="rId4" Type="http://schemas.openxmlformats.org/officeDocument/2006/relationships/image" Target="../media/image13.png"/><Relationship Id="rId9" Type="http://schemas.openxmlformats.org/officeDocument/2006/relationships/image" Target="../media/image8.svg"/><Relationship Id="rId14"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microsoft.com/office/2018/10/relationships/comments" Target="../comments/modernComment_108_0.xml"/><Relationship Id="rId1" Type="http://schemas.openxmlformats.org/officeDocument/2006/relationships/slideLayout" Target="../slideLayouts/slideLayout7.xml"/><Relationship Id="rId6" Type="http://schemas.openxmlformats.org/officeDocument/2006/relationships/image" Target="../media/image14.svg"/><Relationship Id="rId11" Type="http://schemas.openxmlformats.org/officeDocument/2006/relationships/image" Target="../media/image9.png"/><Relationship Id="rId5" Type="http://schemas.openxmlformats.org/officeDocument/2006/relationships/image" Target="../media/image1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s>
</file>

<file path=ppt/slides/_rels/slide10.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microsoft.com/office/2018/10/relationships/comments" Target="../comments/modernComment_109_0.xml"/><Relationship Id="rId1" Type="http://schemas.openxmlformats.org/officeDocument/2006/relationships/slideLayout" Target="../slideLayouts/slideLayout7.xml"/><Relationship Id="rId6" Type="http://schemas.openxmlformats.org/officeDocument/2006/relationships/image" Target="../media/image14.svg"/><Relationship Id="rId11" Type="http://schemas.openxmlformats.org/officeDocument/2006/relationships/image" Target="../media/image9.png"/><Relationship Id="rId5" Type="http://schemas.openxmlformats.org/officeDocument/2006/relationships/image" Target="../media/image1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13.png"/><Relationship Id="rId9" Type="http://schemas.openxmlformats.org/officeDocument/2006/relationships/image" Target="../media/image8.sv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13.png"/><Relationship Id="rId9" Type="http://schemas.openxmlformats.org/officeDocument/2006/relationships/image" Target="../media/image8.svg"/></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13.png"/><Relationship Id="rId9" Type="http://schemas.openxmlformats.org/officeDocument/2006/relationships/image" Target="../media/image8.svg"/></Relationships>
</file>

<file path=ppt/slides/_rels/slide14.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microsoft.com/office/2018/10/relationships/comments" Target="../comments/modernComment_10D_0.xml"/><Relationship Id="rId1" Type="http://schemas.openxmlformats.org/officeDocument/2006/relationships/slideLayout" Target="../slideLayouts/slideLayout7.xml"/><Relationship Id="rId6" Type="http://schemas.openxmlformats.org/officeDocument/2006/relationships/image" Target="../media/image14.svg"/><Relationship Id="rId11" Type="http://schemas.openxmlformats.org/officeDocument/2006/relationships/image" Target="../media/image9.png"/><Relationship Id="rId5" Type="http://schemas.openxmlformats.org/officeDocument/2006/relationships/image" Target="../media/image1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13.png"/><Relationship Id="rId9" Type="http://schemas.openxmlformats.org/officeDocument/2006/relationships/image" Target="../media/image8.svg"/></Relationships>
</file>

<file path=ppt/slides/_rels/slide16.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image" Target="../media/image19.png"/><Relationship Id="rId16" Type="http://schemas.openxmlformats.org/officeDocument/2006/relationships/image" Target="../media/image21.svg"/><Relationship Id="rId1" Type="http://schemas.openxmlformats.org/officeDocument/2006/relationships/slideLayout" Target="../slideLayouts/slideLayout7.xml"/><Relationship Id="rId6" Type="http://schemas.openxmlformats.org/officeDocument/2006/relationships/image" Target="../media/image14.svg"/><Relationship Id="rId11" Type="http://schemas.openxmlformats.org/officeDocument/2006/relationships/image" Target="../media/image9.png"/><Relationship Id="rId5" Type="http://schemas.openxmlformats.org/officeDocument/2006/relationships/image" Target="../media/image13.png"/><Relationship Id="rId15" Type="http://schemas.openxmlformats.org/officeDocument/2006/relationships/image" Target="../media/image20.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s>
</file>

<file path=ppt/slides/_rels/slide17.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13.png"/><Relationship Id="rId9" Type="http://schemas.openxmlformats.org/officeDocument/2006/relationships/image" Target="../media/image8.svg"/></Relationships>
</file>

<file path=ppt/slides/_rels/slide18.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13.png"/><Relationship Id="rId9" Type="http://schemas.openxmlformats.org/officeDocument/2006/relationships/image" Target="../media/image8.svg"/></Relationships>
</file>

<file path=ppt/slides/_rels/slide19.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13.png"/><Relationship Id="rId9" Type="http://schemas.openxmlformats.org/officeDocument/2006/relationships/image" Target="../media/image8.svg"/></Relationships>
</file>

<file path=ppt/slides/_rels/slide20.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13.png"/><Relationship Id="rId9" Type="http://schemas.openxmlformats.org/officeDocument/2006/relationships/image" Target="../media/image8.svg"/></Relationships>
</file>

<file path=ppt/slides/_rels/slide2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microsoft.com/office/2018/10/relationships/comments" Target="../comments/modernComment_114_0.xml"/><Relationship Id="rId1" Type="http://schemas.openxmlformats.org/officeDocument/2006/relationships/slideLayout" Target="../slideLayouts/slideLayout7.xml"/><Relationship Id="rId6" Type="http://schemas.openxmlformats.org/officeDocument/2006/relationships/image" Target="../media/image14.svg"/><Relationship Id="rId11" Type="http://schemas.openxmlformats.org/officeDocument/2006/relationships/image" Target="../media/image9.png"/><Relationship Id="rId5" Type="http://schemas.openxmlformats.org/officeDocument/2006/relationships/image" Target="../media/image1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s>
</file>

<file path=ppt/slides/_rels/slide22.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microsoft.com/office/2018/10/relationships/comments" Target="../comments/modernComment_115_0.xml"/><Relationship Id="rId1" Type="http://schemas.openxmlformats.org/officeDocument/2006/relationships/slideLayout" Target="../slideLayouts/slideLayout7.xml"/><Relationship Id="rId6" Type="http://schemas.openxmlformats.org/officeDocument/2006/relationships/image" Target="../media/image14.svg"/><Relationship Id="rId11" Type="http://schemas.openxmlformats.org/officeDocument/2006/relationships/image" Target="../media/image9.png"/><Relationship Id="rId5" Type="http://schemas.openxmlformats.org/officeDocument/2006/relationships/image" Target="../media/image1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s>
</file>

<file path=ppt/slides/_rels/slide2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13.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41C44"/>
        </a:solidFill>
        <a:effectLst/>
      </p:bgPr>
    </p:bg>
    <p:spTree>
      <p:nvGrpSpPr>
        <p:cNvPr id="1" name=""/>
        <p:cNvGrpSpPr/>
        <p:nvPr/>
      </p:nvGrpSpPr>
      <p:grpSpPr>
        <a:xfrm>
          <a:off x="0" y="0"/>
          <a:ext cx="0" cy="0"/>
          <a:chOff x="0" y="0"/>
          <a:chExt cx="0" cy="0"/>
        </a:xfrm>
      </p:grpSpPr>
      <p:sp>
        <p:nvSpPr>
          <p:cNvPr id="2" name="AutoShape 2"/>
          <p:cNvSpPr/>
          <p:nvPr/>
        </p:nvSpPr>
        <p:spPr>
          <a:xfrm>
            <a:off x="-20" y="1009650"/>
            <a:ext cx="18288020" cy="0"/>
          </a:xfrm>
          <a:prstGeom prst="line">
            <a:avLst/>
          </a:prstGeom>
          <a:ln w="38100" cap="rnd">
            <a:solidFill>
              <a:srgbClr val="D9D9D9"/>
            </a:solidFill>
            <a:prstDash val="sysDot"/>
            <a:headEnd type="none" w="sm" len="sm"/>
            <a:tailEnd type="none" w="sm" len="sm"/>
          </a:ln>
        </p:spPr>
        <p:txBody>
          <a:bodyPr/>
          <a:lstStyle/>
          <a:p>
            <a:endParaRPr lang="en-US"/>
          </a:p>
        </p:txBody>
      </p:sp>
      <p:sp>
        <p:nvSpPr>
          <p:cNvPr id="3" name="AutoShape 3"/>
          <p:cNvSpPr/>
          <p:nvPr/>
        </p:nvSpPr>
        <p:spPr>
          <a:xfrm rot="3580">
            <a:off x="-5" y="9229725"/>
            <a:ext cx="18288030" cy="0"/>
          </a:xfrm>
          <a:prstGeom prst="line">
            <a:avLst/>
          </a:prstGeom>
          <a:ln w="38100" cap="rnd">
            <a:solidFill>
              <a:srgbClr val="D9D9D9"/>
            </a:solidFill>
            <a:prstDash val="sysDot"/>
            <a:headEnd type="none" w="sm" len="sm"/>
            <a:tailEnd type="none" w="sm" len="sm"/>
          </a:ln>
        </p:spPr>
        <p:txBody>
          <a:bodyPr/>
          <a:lstStyle/>
          <a:p>
            <a:endParaRPr lang="en-US"/>
          </a:p>
        </p:txBody>
      </p:sp>
      <p:sp>
        <p:nvSpPr>
          <p:cNvPr id="4" name="AutoShape 4"/>
          <p:cNvSpPr/>
          <p:nvPr/>
        </p:nvSpPr>
        <p:spPr>
          <a:xfrm rot="-5406366">
            <a:off x="-4143384" y="5124450"/>
            <a:ext cx="10287018" cy="0"/>
          </a:xfrm>
          <a:prstGeom prst="line">
            <a:avLst/>
          </a:prstGeom>
          <a:ln w="38100" cap="rnd">
            <a:solidFill>
              <a:srgbClr val="D9D9D9"/>
            </a:solidFill>
            <a:prstDash val="sysDot"/>
            <a:headEnd type="none" w="sm" len="sm"/>
            <a:tailEnd type="none" w="sm" len="sm"/>
          </a:ln>
        </p:spPr>
        <p:txBody>
          <a:bodyPr/>
          <a:lstStyle/>
          <a:p>
            <a:endParaRPr lang="en-US"/>
          </a:p>
        </p:txBody>
      </p:sp>
      <p:sp>
        <p:nvSpPr>
          <p:cNvPr id="5" name="AutoShape 5"/>
          <p:cNvSpPr/>
          <p:nvPr/>
        </p:nvSpPr>
        <p:spPr>
          <a:xfrm rot="-5400000">
            <a:off x="12115782" y="5124468"/>
            <a:ext cx="10287035" cy="0"/>
          </a:xfrm>
          <a:prstGeom prst="line">
            <a:avLst/>
          </a:prstGeom>
          <a:ln w="38100" cap="rnd">
            <a:solidFill>
              <a:srgbClr val="D9D9D9"/>
            </a:solidFill>
            <a:prstDash val="sysDot"/>
            <a:headEnd type="none" w="sm" len="sm"/>
            <a:tailEnd type="none" w="sm" len="sm"/>
          </a:ln>
        </p:spPr>
        <p:txBody>
          <a:bodyPr/>
          <a:lstStyle/>
          <a:p>
            <a:endParaRPr lang="en-US"/>
          </a:p>
        </p:txBody>
      </p:sp>
      <p:grpSp>
        <p:nvGrpSpPr>
          <p:cNvPr id="6" name="Group 6"/>
          <p:cNvGrpSpPr/>
          <p:nvPr/>
        </p:nvGrpSpPr>
        <p:grpSpPr>
          <a:xfrm>
            <a:off x="1683740" y="8865884"/>
            <a:ext cx="9934117" cy="765782"/>
            <a:chOff x="0" y="0"/>
            <a:chExt cx="13245490" cy="1021042"/>
          </a:xfrm>
        </p:grpSpPr>
        <p:sp>
          <p:nvSpPr>
            <p:cNvPr id="7" name="Freeform 7"/>
            <p:cNvSpPr/>
            <p:nvPr/>
          </p:nvSpPr>
          <p:spPr>
            <a:xfrm>
              <a:off x="12224448" y="0"/>
              <a:ext cx="1021042" cy="1021042"/>
            </a:xfrm>
            <a:custGeom>
              <a:avLst/>
              <a:gdLst/>
              <a:ahLst/>
              <a:cxnLst/>
              <a:rect l="l" t="t" r="r" b="b"/>
              <a:pathLst>
                <a:path w="1021042" h="1021042">
                  <a:moveTo>
                    <a:pt x="0" y="0"/>
                  </a:moveTo>
                  <a:lnTo>
                    <a:pt x="1021042" y="0"/>
                  </a:lnTo>
                  <a:lnTo>
                    <a:pt x="1021042" y="1021042"/>
                  </a:lnTo>
                  <a:lnTo>
                    <a:pt x="0" y="10210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a:off x="3100255" y="0"/>
              <a:ext cx="1021042" cy="1021042"/>
            </a:xfrm>
            <a:custGeom>
              <a:avLst/>
              <a:gdLst/>
              <a:ahLst/>
              <a:cxnLst/>
              <a:rect l="l" t="t" r="r" b="b"/>
              <a:pathLst>
                <a:path w="1021042" h="1021042">
                  <a:moveTo>
                    <a:pt x="0" y="0"/>
                  </a:moveTo>
                  <a:lnTo>
                    <a:pt x="1021042" y="0"/>
                  </a:lnTo>
                  <a:lnTo>
                    <a:pt x="1021042" y="1021042"/>
                  </a:lnTo>
                  <a:lnTo>
                    <a:pt x="0" y="102104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p:cNvSpPr/>
            <p:nvPr/>
          </p:nvSpPr>
          <p:spPr>
            <a:xfrm>
              <a:off x="4562096" y="0"/>
              <a:ext cx="1021042" cy="1021042"/>
            </a:xfrm>
            <a:custGeom>
              <a:avLst/>
              <a:gdLst/>
              <a:ahLst/>
              <a:cxnLst/>
              <a:rect l="l" t="t" r="r" b="b"/>
              <a:pathLst>
                <a:path w="1021042" h="1021042">
                  <a:moveTo>
                    <a:pt x="0" y="0"/>
                  </a:moveTo>
                  <a:lnTo>
                    <a:pt x="1021042" y="0"/>
                  </a:lnTo>
                  <a:lnTo>
                    <a:pt x="1021042" y="1021042"/>
                  </a:lnTo>
                  <a:lnTo>
                    <a:pt x="0" y="102104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0" name="Freeform 10"/>
            <p:cNvSpPr/>
            <p:nvPr/>
          </p:nvSpPr>
          <p:spPr>
            <a:xfrm>
              <a:off x="7662351" y="0"/>
              <a:ext cx="1021042" cy="1021042"/>
            </a:xfrm>
            <a:custGeom>
              <a:avLst/>
              <a:gdLst/>
              <a:ahLst/>
              <a:cxnLst/>
              <a:rect l="l" t="t" r="r" b="b"/>
              <a:pathLst>
                <a:path w="1021042" h="1021042">
                  <a:moveTo>
                    <a:pt x="0" y="0"/>
                  </a:moveTo>
                  <a:lnTo>
                    <a:pt x="1021042" y="0"/>
                  </a:lnTo>
                  <a:lnTo>
                    <a:pt x="1021042" y="1021042"/>
                  </a:lnTo>
                  <a:lnTo>
                    <a:pt x="0" y="102104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1" name="Freeform 11"/>
            <p:cNvSpPr/>
            <p:nvPr/>
          </p:nvSpPr>
          <p:spPr>
            <a:xfrm>
              <a:off x="9124193" y="0"/>
              <a:ext cx="1021042" cy="1021042"/>
            </a:xfrm>
            <a:custGeom>
              <a:avLst/>
              <a:gdLst/>
              <a:ahLst/>
              <a:cxnLst/>
              <a:rect l="l" t="t" r="r" b="b"/>
              <a:pathLst>
                <a:path w="1021042" h="1021042">
                  <a:moveTo>
                    <a:pt x="0" y="0"/>
                  </a:moveTo>
                  <a:lnTo>
                    <a:pt x="1021042" y="0"/>
                  </a:lnTo>
                  <a:lnTo>
                    <a:pt x="1021042" y="1021042"/>
                  </a:lnTo>
                  <a:lnTo>
                    <a:pt x="0" y="102104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2" name="Freeform 12"/>
            <p:cNvSpPr/>
            <p:nvPr/>
          </p:nvSpPr>
          <p:spPr>
            <a:xfrm>
              <a:off x="0" y="0"/>
              <a:ext cx="1021042" cy="1021042"/>
            </a:xfrm>
            <a:custGeom>
              <a:avLst/>
              <a:gdLst/>
              <a:ahLst/>
              <a:cxnLst/>
              <a:rect l="l" t="t" r="r" b="b"/>
              <a:pathLst>
                <a:path w="1021042" h="1021042">
                  <a:moveTo>
                    <a:pt x="0" y="0"/>
                  </a:moveTo>
                  <a:lnTo>
                    <a:pt x="1021042" y="0"/>
                  </a:lnTo>
                  <a:lnTo>
                    <a:pt x="1021042" y="1021042"/>
                  </a:lnTo>
                  <a:lnTo>
                    <a:pt x="0" y="102104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grpSp>
        <p:nvGrpSpPr>
          <p:cNvPr id="13" name="Group 13"/>
          <p:cNvGrpSpPr/>
          <p:nvPr/>
        </p:nvGrpSpPr>
        <p:grpSpPr>
          <a:xfrm>
            <a:off x="6650798" y="626014"/>
            <a:ext cx="9953462" cy="767273"/>
            <a:chOff x="0" y="0"/>
            <a:chExt cx="13271283" cy="1023030"/>
          </a:xfrm>
        </p:grpSpPr>
        <p:sp>
          <p:nvSpPr>
            <p:cNvPr id="14" name="Freeform 14"/>
            <p:cNvSpPr/>
            <p:nvPr/>
          </p:nvSpPr>
          <p:spPr>
            <a:xfrm>
              <a:off x="12248252" y="0"/>
              <a:ext cx="1023030" cy="1023030"/>
            </a:xfrm>
            <a:custGeom>
              <a:avLst/>
              <a:gdLst/>
              <a:ahLst/>
              <a:cxnLst/>
              <a:rect l="l" t="t" r="r" b="b"/>
              <a:pathLst>
                <a:path w="1023030" h="1023030">
                  <a:moveTo>
                    <a:pt x="0" y="0"/>
                  </a:moveTo>
                  <a:lnTo>
                    <a:pt x="1023031" y="0"/>
                  </a:lnTo>
                  <a:lnTo>
                    <a:pt x="1023031" y="1023030"/>
                  </a:lnTo>
                  <a:lnTo>
                    <a:pt x="0" y="10230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5" name="Freeform 15"/>
            <p:cNvSpPr/>
            <p:nvPr/>
          </p:nvSpPr>
          <p:spPr>
            <a:xfrm>
              <a:off x="3106292"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6" name="Freeform 16"/>
            <p:cNvSpPr/>
            <p:nvPr/>
          </p:nvSpPr>
          <p:spPr>
            <a:xfrm>
              <a:off x="457098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7" name="Freeform 17"/>
            <p:cNvSpPr/>
            <p:nvPr/>
          </p:nvSpPr>
          <p:spPr>
            <a:xfrm>
              <a:off x="7677272" y="0"/>
              <a:ext cx="1023030" cy="1023030"/>
            </a:xfrm>
            <a:custGeom>
              <a:avLst/>
              <a:gdLst/>
              <a:ahLst/>
              <a:cxnLst/>
              <a:rect l="l" t="t" r="r" b="b"/>
              <a:pathLst>
                <a:path w="1023030" h="1023030">
                  <a:moveTo>
                    <a:pt x="0" y="0"/>
                  </a:moveTo>
                  <a:lnTo>
                    <a:pt x="1023031" y="0"/>
                  </a:lnTo>
                  <a:lnTo>
                    <a:pt x="1023031" y="1023030"/>
                  </a:lnTo>
                  <a:lnTo>
                    <a:pt x="0" y="102303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8" name="Freeform 18"/>
            <p:cNvSpPr/>
            <p:nvPr/>
          </p:nvSpPr>
          <p:spPr>
            <a:xfrm>
              <a:off x="914196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9" name="Freeform 19"/>
            <p:cNvSpPr/>
            <p:nvPr/>
          </p:nvSpPr>
          <p:spPr>
            <a:xfrm>
              <a:off x="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sp>
        <p:nvSpPr>
          <p:cNvPr id="20" name="TextBox 20"/>
          <p:cNvSpPr txBox="1"/>
          <p:nvPr/>
        </p:nvSpPr>
        <p:spPr>
          <a:xfrm>
            <a:off x="1946582" y="3499384"/>
            <a:ext cx="14394817" cy="1965512"/>
          </a:xfrm>
          <a:prstGeom prst="rect">
            <a:avLst/>
          </a:prstGeom>
        </p:spPr>
        <p:txBody>
          <a:bodyPr lIns="0" tIns="0" rIns="0" bIns="0" rtlCol="0" anchor="t">
            <a:spAutoFit/>
          </a:bodyPr>
          <a:lstStyle/>
          <a:p>
            <a:pPr algn="ctr">
              <a:lnSpc>
                <a:spcPts val="7694"/>
              </a:lnSpc>
            </a:pPr>
            <a:r>
              <a:rPr lang="en-US" sz="7058" spc="557">
                <a:solidFill>
                  <a:srgbClr val="FFFFFF"/>
                </a:solidFill>
                <a:latin typeface="Glacial Indifference Bold"/>
              </a:rPr>
              <a:t>Creating Connections &amp; Touch Points</a:t>
            </a:r>
          </a:p>
        </p:txBody>
      </p:sp>
      <p:sp>
        <p:nvSpPr>
          <p:cNvPr id="21" name="TextBox 21"/>
          <p:cNvSpPr txBox="1"/>
          <p:nvPr/>
        </p:nvSpPr>
        <p:spPr>
          <a:xfrm>
            <a:off x="4827653" y="5546179"/>
            <a:ext cx="8632693" cy="1217000"/>
          </a:xfrm>
          <a:prstGeom prst="rect">
            <a:avLst/>
          </a:prstGeom>
        </p:spPr>
        <p:txBody>
          <a:bodyPr lIns="0" tIns="0" rIns="0" bIns="0" rtlCol="0" anchor="t">
            <a:spAutoFit/>
          </a:bodyPr>
          <a:lstStyle/>
          <a:p>
            <a:pPr algn="ctr">
              <a:lnSpc>
                <a:spcPts val="4866"/>
              </a:lnSpc>
            </a:pPr>
            <a:r>
              <a:rPr lang="en-US" sz="3050" spc="108" dirty="0">
                <a:solidFill>
                  <a:srgbClr val="FFFFFF"/>
                </a:solidFill>
                <a:latin typeface="Breathing"/>
              </a:rPr>
              <a:t>SLED 2025</a:t>
            </a:r>
            <a:endParaRPr lang="en-US" sz="3099" spc="108" dirty="0">
              <a:solidFill>
                <a:srgbClr val="FFFFFF"/>
              </a:solidFill>
              <a:latin typeface="Breathing"/>
            </a:endParaRPr>
          </a:p>
          <a:p>
            <a:pPr algn="ctr">
              <a:lnSpc>
                <a:spcPts val="4866"/>
              </a:lnSpc>
            </a:pPr>
            <a:endParaRPr lang="en-US" sz="3050" spc="108" dirty="0">
              <a:solidFill>
                <a:srgbClr val="FFFFFF"/>
              </a:solidFill>
              <a:latin typeface="Breathing"/>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41C44"/>
        </a:solidFill>
        <a:effectLst/>
      </p:bgPr>
    </p:bg>
    <p:spTree>
      <p:nvGrpSpPr>
        <p:cNvPr id="1" name=""/>
        <p:cNvGrpSpPr/>
        <p:nvPr/>
      </p:nvGrpSpPr>
      <p:grpSpPr>
        <a:xfrm>
          <a:off x="0" y="0"/>
          <a:ext cx="0" cy="0"/>
          <a:chOff x="0" y="0"/>
          <a:chExt cx="0" cy="0"/>
        </a:xfrm>
      </p:grpSpPr>
      <p:sp>
        <p:nvSpPr>
          <p:cNvPr id="2" name="AutoShape 2"/>
          <p:cNvSpPr/>
          <p:nvPr/>
        </p:nvSpPr>
        <p:spPr>
          <a:xfrm>
            <a:off x="-60" y="1009685"/>
            <a:ext cx="18288020" cy="0"/>
          </a:xfrm>
          <a:prstGeom prst="line">
            <a:avLst/>
          </a:prstGeom>
          <a:ln w="38100" cap="rnd">
            <a:solidFill>
              <a:srgbClr val="D9D9D9"/>
            </a:solidFill>
            <a:prstDash val="sysDot"/>
            <a:headEnd type="none" w="sm" len="sm"/>
            <a:tailEnd type="none" w="sm" len="sm"/>
          </a:ln>
        </p:spPr>
        <p:txBody>
          <a:bodyPr/>
          <a:lstStyle/>
          <a:p>
            <a:endParaRPr lang="en-US"/>
          </a:p>
        </p:txBody>
      </p:sp>
      <p:sp>
        <p:nvSpPr>
          <p:cNvPr id="3" name="AutoShape 3"/>
          <p:cNvSpPr/>
          <p:nvPr/>
        </p:nvSpPr>
        <p:spPr>
          <a:xfrm rot="3580">
            <a:off x="-45" y="9229760"/>
            <a:ext cx="18288030" cy="0"/>
          </a:xfrm>
          <a:prstGeom prst="line">
            <a:avLst/>
          </a:prstGeom>
          <a:ln w="38100" cap="rnd">
            <a:solidFill>
              <a:srgbClr val="D9D9D9"/>
            </a:solidFill>
            <a:prstDash val="sysDot"/>
            <a:headEnd type="none" w="sm" len="sm"/>
            <a:tailEnd type="none" w="sm" len="sm"/>
          </a:ln>
        </p:spPr>
        <p:txBody>
          <a:bodyPr/>
          <a:lstStyle/>
          <a:p>
            <a:endParaRPr lang="en-US"/>
          </a:p>
        </p:txBody>
      </p:sp>
      <p:sp>
        <p:nvSpPr>
          <p:cNvPr id="4" name="AutoShape 4"/>
          <p:cNvSpPr/>
          <p:nvPr/>
        </p:nvSpPr>
        <p:spPr>
          <a:xfrm rot="-5406366">
            <a:off x="-4143424" y="5124485"/>
            <a:ext cx="10287018" cy="0"/>
          </a:xfrm>
          <a:prstGeom prst="line">
            <a:avLst/>
          </a:prstGeom>
          <a:ln w="38100" cap="rnd">
            <a:solidFill>
              <a:srgbClr val="D9D9D9"/>
            </a:solidFill>
            <a:prstDash val="sysDot"/>
            <a:headEnd type="none" w="sm" len="sm"/>
            <a:tailEnd type="none" w="sm" len="sm"/>
          </a:ln>
        </p:spPr>
        <p:txBody>
          <a:bodyPr/>
          <a:lstStyle/>
          <a:p>
            <a:endParaRPr lang="en-US"/>
          </a:p>
        </p:txBody>
      </p:sp>
      <p:sp>
        <p:nvSpPr>
          <p:cNvPr id="5" name="AutoShape 5"/>
          <p:cNvSpPr/>
          <p:nvPr/>
        </p:nvSpPr>
        <p:spPr>
          <a:xfrm rot="-5400000">
            <a:off x="12115743" y="5124503"/>
            <a:ext cx="10287035" cy="0"/>
          </a:xfrm>
          <a:prstGeom prst="line">
            <a:avLst/>
          </a:prstGeom>
          <a:ln w="38100" cap="rnd">
            <a:solidFill>
              <a:srgbClr val="D9D9D9"/>
            </a:solidFill>
            <a:prstDash val="sysDot"/>
            <a:headEnd type="none" w="sm" len="sm"/>
            <a:tailEnd type="none" w="sm" len="sm"/>
          </a:ln>
        </p:spPr>
        <p:txBody>
          <a:bodyPr/>
          <a:lstStyle/>
          <a:p>
            <a:endParaRPr lang="en-US"/>
          </a:p>
        </p:txBody>
      </p:sp>
      <p:sp>
        <p:nvSpPr>
          <p:cNvPr id="6" name="TextBox 6"/>
          <p:cNvSpPr txBox="1"/>
          <p:nvPr/>
        </p:nvSpPr>
        <p:spPr>
          <a:xfrm>
            <a:off x="4405890" y="1304383"/>
            <a:ext cx="9476220" cy="1445036"/>
          </a:xfrm>
          <a:prstGeom prst="rect">
            <a:avLst/>
          </a:prstGeom>
        </p:spPr>
        <p:txBody>
          <a:bodyPr lIns="0" tIns="0" rIns="0" bIns="0" rtlCol="0" anchor="t">
            <a:spAutoFit/>
          </a:bodyPr>
          <a:lstStyle/>
          <a:p>
            <a:pPr algn="ctr">
              <a:lnSpc>
                <a:spcPts val="11702"/>
              </a:lnSpc>
            </a:pPr>
            <a:r>
              <a:rPr lang="en-US" sz="8358" spc="292">
                <a:solidFill>
                  <a:srgbClr val="FFFFFF"/>
                </a:solidFill>
                <a:latin typeface="Glacial Indifference"/>
              </a:rPr>
              <a:t>Session Overview</a:t>
            </a:r>
          </a:p>
        </p:txBody>
      </p:sp>
      <p:grpSp>
        <p:nvGrpSpPr>
          <p:cNvPr id="7" name="Group 7"/>
          <p:cNvGrpSpPr/>
          <p:nvPr/>
        </p:nvGrpSpPr>
        <p:grpSpPr>
          <a:xfrm>
            <a:off x="765136" y="8875335"/>
            <a:ext cx="8948443" cy="689800"/>
            <a:chOff x="0" y="0"/>
            <a:chExt cx="11931257" cy="919733"/>
          </a:xfrm>
        </p:grpSpPr>
        <p:sp>
          <p:nvSpPr>
            <p:cNvPr id="8" name="Freeform 8"/>
            <p:cNvSpPr/>
            <p:nvPr/>
          </p:nvSpPr>
          <p:spPr>
            <a:xfrm>
              <a:off x="1101152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279264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410944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Freeform 11"/>
            <p:cNvSpPr/>
            <p:nvPr/>
          </p:nvSpPr>
          <p:spPr>
            <a:xfrm>
              <a:off x="690208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2" name="Freeform 12"/>
            <p:cNvSpPr/>
            <p:nvPr/>
          </p:nvSpPr>
          <p:spPr>
            <a:xfrm>
              <a:off x="821888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3" name="Freeform 13"/>
            <p:cNvSpPr/>
            <p:nvPr/>
          </p:nvSpPr>
          <p:spPr>
            <a:xfrm>
              <a:off x="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sp>
        <p:nvSpPr>
          <p:cNvPr id="14" name="TextBox 14"/>
          <p:cNvSpPr txBox="1"/>
          <p:nvPr/>
        </p:nvSpPr>
        <p:spPr>
          <a:xfrm>
            <a:off x="1782792" y="2872670"/>
            <a:ext cx="14628606" cy="5292725"/>
          </a:xfrm>
          <a:prstGeom prst="rect">
            <a:avLst/>
          </a:prstGeom>
        </p:spPr>
        <p:txBody>
          <a:bodyPr lIns="0" tIns="0" rIns="0" bIns="0" rtlCol="0" anchor="t">
            <a:spAutoFit/>
          </a:bodyPr>
          <a:lstStyle/>
          <a:p>
            <a:pPr marL="1079501" lvl="1" indent="-539750" algn="l">
              <a:lnSpc>
                <a:spcPts val="7000"/>
              </a:lnSpc>
              <a:buFont typeface="Arial"/>
              <a:buChar char="•"/>
            </a:pPr>
            <a:r>
              <a:rPr lang="en-US" sz="5000">
                <a:solidFill>
                  <a:srgbClr val="FFFFFF"/>
                </a:solidFill>
                <a:latin typeface="Open Sans"/>
              </a:rPr>
              <a:t>Introduction to Connections &amp; Community </a:t>
            </a:r>
          </a:p>
          <a:p>
            <a:pPr marL="1079501" lvl="1" indent="-539750" algn="l">
              <a:lnSpc>
                <a:spcPts val="7000"/>
              </a:lnSpc>
              <a:buFont typeface="Arial"/>
              <a:buChar char="•"/>
            </a:pPr>
            <a:r>
              <a:rPr lang="en-US" sz="5000">
                <a:solidFill>
                  <a:srgbClr val="FFFFFF"/>
                </a:solidFill>
                <a:latin typeface="Open Sans"/>
              </a:rPr>
              <a:t>Informal Touch Points</a:t>
            </a:r>
          </a:p>
          <a:p>
            <a:pPr marL="1079501" lvl="1" indent="-539750" algn="l">
              <a:lnSpc>
                <a:spcPts val="7000"/>
              </a:lnSpc>
              <a:buFont typeface="Arial"/>
              <a:buChar char="•"/>
            </a:pPr>
            <a:r>
              <a:rPr lang="en-US" sz="5000">
                <a:solidFill>
                  <a:srgbClr val="FFFFFF"/>
                </a:solidFill>
                <a:latin typeface="Open Sans"/>
              </a:rPr>
              <a:t>Assessing Needs</a:t>
            </a:r>
          </a:p>
          <a:p>
            <a:pPr marL="1079501" lvl="1" indent="-539750" algn="l">
              <a:lnSpc>
                <a:spcPts val="7000"/>
              </a:lnSpc>
              <a:buFont typeface="Arial"/>
              <a:buChar char="•"/>
            </a:pPr>
            <a:r>
              <a:rPr lang="en-US" sz="5000">
                <a:solidFill>
                  <a:srgbClr val="FFFFFF"/>
                </a:solidFill>
                <a:latin typeface="Open Sans"/>
              </a:rPr>
              <a:t>Students of Concern</a:t>
            </a:r>
          </a:p>
          <a:p>
            <a:pPr marL="1079501" lvl="1" indent="-539750" algn="l">
              <a:lnSpc>
                <a:spcPts val="7000"/>
              </a:lnSpc>
              <a:buFont typeface="Arial"/>
              <a:buChar char="•"/>
            </a:pPr>
            <a:r>
              <a:rPr lang="en-US" sz="5000">
                <a:solidFill>
                  <a:srgbClr val="FFFFFF"/>
                </a:solidFill>
                <a:latin typeface="Open Sans"/>
              </a:rPr>
              <a:t>Forms and Communication</a:t>
            </a:r>
          </a:p>
          <a:p>
            <a:pPr marL="1079501" lvl="1" indent="-539750" algn="l">
              <a:lnSpc>
                <a:spcPts val="7000"/>
              </a:lnSpc>
              <a:buFont typeface="Arial"/>
              <a:buChar char="•"/>
            </a:pPr>
            <a:r>
              <a:rPr lang="en-US" sz="5000">
                <a:solidFill>
                  <a:srgbClr val="FFFFFF"/>
                </a:solidFill>
                <a:latin typeface="Open Sans"/>
              </a:rPr>
              <a:t>Follow Through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41C44"/>
        </a:solidFill>
        <a:effectLst/>
      </p:bgPr>
    </p:bg>
    <p:spTree>
      <p:nvGrpSpPr>
        <p:cNvPr id="1" name=""/>
        <p:cNvGrpSpPr/>
        <p:nvPr/>
      </p:nvGrpSpPr>
      <p:grpSpPr>
        <a:xfrm>
          <a:off x="0" y="0"/>
          <a:ext cx="0" cy="0"/>
          <a:chOff x="0" y="0"/>
          <a:chExt cx="0" cy="0"/>
        </a:xfrm>
      </p:grpSpPr>
      <p:sp>
        <p:nvSpPr>
          <p:cNvPr id="2" name="AutoShape 2"/>
          <p:cNvSpPr/>
          <p:nvPr/>
        </p:nvSpPr>
        <p:spPr>
          <a:xfrm>
            <a:off x="-20" y="1009650"/>
            <a:ext cx="18288020" cy="0"/>
          </a:xfrm>
          <a:prstGeom prst="line">
            <a:avLst/>
          </a:prstGeom>
          <a:ln w="38100" cap="rnd">
            <a:solidFill>
              <a:srgbClr val="D9D9D9"/>
            </a:solidFill>
            <a:prstDash val="sysDot"/>
            <a:headEnd type="none" w="sm" len="sm"/>
            <a:tailEnd type="none" w="sm" len="sm"/>
          </a:ln>
        </p:spPr>
        <p:txBody>
          <a:bodyPr/>
          <a:lstStyle/>
          <a:p>
            <a:endParaRPr lang="en-US"/>
          </a:p>
        </p:txBody>
      </p:sp>
      <p:sp>
        <p:nvSpPr>
          <p:cNvPr id="3" name="AutoShape 3"/>
          <p:cNvSpPr/>
          <p:nvPr/>
        </p:nvSpPr>
        <p:spPr>
          <a:xfrm rot="3580">
            <a:off x="-5" y="9229725"/>
            <a:ext cx="18288030" cy="0"/>
          </a:xfrm>
          <a:prstGeom prst="line">
            <a:avLst/>
          </a:prstGeom>
          <a:ln w="38100" cap="rnd">
            <a:solidFill>
              <a:srgbClr val="D9D9D9"/>
            </a:solidFill>
            <a:prstDash val="sysDot"/>
            <a:headEnd type="none" w="sm" len="sm"/>
            <a:tailEnd type="none" w="sm" len="sm"/>
          </a:ln>
        </p:spPr>
        <p:txBody>
          <a:bodyPr/>
          <a:lstStyle/>
          <a:p>
            <a:endParaRPr lang="en-US"/>
          </a:p>
        </p:txBody>
      </p:sp>
      <p:sp>
        <p:nvSpPr>
          <p:cNvPr id="4" name="AutoShape 4"/>
          <p:cNvSpPr/>
          <p:nvPr/>
        </p:nvSpPr>
        <p:spPr>
          <a:xfrm rot="-5406366">
            <a:off x="-4143384" y="5124450"/>
            <a:ext cx="10287018" cy="0"/>
          </a:xfrm>
          <a:prstGeom prst="line">
            <a:avLst/>
          </a:prstGeom>
          <a:ln w="38100" cap="rnd">
            <a:solidFill>
              <a:srgbClr val="D9D9D9"/>
            </a:solidFill>
            <a:prstDash val="sysDot"/>
            <a:headEnd type="none" w="sm" len="sm"/>
            <a:tailEnd type="none" w="sm" len="sm"/>
          </a:ln>
        </p:spPr>
        <p:txBody>
          <a:bodyPr/>
          <a:lstStyle/>
          <a:p>
            <a:endParaRPr lang="en-US"/>
          </a:p>
        </p:txBody>
      </p:sp>
      <p:sp>
        <p:nvSpPr>
          <p:cNvPr id="5" name="AutoShape 5"/>
          <p:cNvSpPr/>
          <p:nvPr/>
        </p:nvSpPr>
        <p:spPr>
          <a:xfrm rot="-5400000">
            <a:off x="12115782" y="5124468"/>
            <a:ext cx="10287035" cy="0"/>
          </a:xfrm>
          <a:prstGeom prst="line">
            <a:avLst/>
          </a:prstGeom>
          <a:ln w="38100" cap="rnd">
            <a:solidFill>
              <a:srgbClr val="D9D9D9"/>
            </a:solidFill>
            <a:prstDash val="sysDot"/>
            <a:headEnd type="none" w="sm" len="sm"/>
            <a:tailEnd type="none" w="sm" len="sm"/>
          </a:ln>
        </p:spPr>
        <p:txBody>
          <a:bodyPr/>
          <a:lstStyle/>
          <a:p>
            <a:endParaRPr lang="en-US"/>
          </a:p>
        </p:txBody>
      </p:sp>
      <p:sp>
        <p:nvSpPr>
          <p:cNvPr id="6" name="TextBox 6"/>
          <p:cNvSpPr txBox="1"/>
          <p:nvPr/>
        </p:nvSpPr>
        <p:spPr>
          <a:xfrm>
            <a:off x="4405880" y="4049498"/>
            <a:ext cx="9476220" cy="1959405"/>
          </a:xfrm>
          <a:prstGeom prst="rect">
            <a:avLst/>
          </a:prstGeom>
        </p:spPr>
        <p:txBody>
          <a:bodyPr lIns="0" tIns="0" rIns="0" bIns="0" rtlCol="0" anchor="t">
            <a:spAutoFit/>
          </a:bodyPr>
          <a:lstStyle/>
          <a:p>
            <a:pPr algn="ctr">
              <a:lnSpc>
                <a:spcPts val="15901"/>
              </a:lnSpc>
            </a:pPr>
            <a:r>
              <a:rPr lang="en-US" sz="11358" spc="397">
                <a:solidFill>
                  <a:srgbClr val="FFFFFF"/>
                </a:solidFill>
                <a:latin typeface="Glacial Indifference Bold"/>
              </a:rPr>
              <a:t>COMMUNITY</a:t>
            </a:r>
          </a:p>
        </p:txBody>
      </p:sp>
      <p:grpSp>
        <p:nvGrpSpPr>
          <p:cNvPr id="7" name="Group 7"/>
          <p:cNvGrpSpPr/>
          <p:nvPr/>
        </p:nvGrpSpPr>
        <p:grpSpPr>
          <a:xfrm rot="-5400000">
            <a:off x="12301619" y="4593059"/>
            <a:ext cx="9953462" cy="767273"/>
            <a:chOff x="0" y="0"/>
            <a:chExt cx="13271283" cy="1023030"/>
          </a:xfrm>
        </p:grpSpPr>
        <p:sp>
          <p:nvSpPr>
            <p:cNvPr id="8" name="Freeform 8"/>
            <p:cNvSpPr/>
            <p:nvPr/>
          </p:nvSpPr>
          <p:spPr>
            <a:xfrm>
              <a:off x="12248252" y="0"/>
              <a:ext cx="1023030" cy="1023030"/>
            </a:xfrm>
            <a:custGeom>
              <a:avLst/>
              <a:gdLst/>
              <a:ahLst/>
              <a:cxnLst/>
              <a:rect l="l" t="t" r="r" b="b"/>
              <a:pathLst>
                <a:path w="1023030" h="1023030">
                  <a:moveTo>
                    <a:pt x="0" y="0"/>
                  </a:moveTo>
                  <a:lnTo>
                    <a:pt x="1023031" y="0"/>
                  </a:lnTo>
                  <a:lnTo>
                    <a:pt x="1023031" y="1023030"/>
                  </a:lnTo>
                  <a:lnTo>
                    <a:pt x="0" y="10230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3106292"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457098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Freeform 11"/>
            <p:cNvSpPr/>
            <p:nvPr/>
          </p:nvSpPr>
          <p:spPr>
            <a:xfrm>
              <a:off x="7677272" y="0"/>
              <a:ext cx="1023030" cy="1023030"/>
            </a:xfrm>
            <a:custGeom>
              <a:avLst/>
              <a:gdLst/>
              <a:ahLst/>
              <a:cxnLst/>
              <a:rect l="l" t="t" r="r" b="b"/>
              <a:pathLst>
                <a:path w="1023030" h="1023030">
                  <a:moveTo>
                    <a:pt x="0" y="0"/>
                  </a:moveTo>
                  <a:lnTo>
                    <a:pt x="1023031" y="0"/>
                  </a:lnTo>
                  <a:lnTo>
                    <a:pt x="1023031" y="1023030"/>
                  </a:lnTo>
                  <a:lnTo>
                    <a:pt x="0" y="102303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2" name="Freeform 12"/>
            <p:cNvSpPr/>
            <p:nvPr/>
          </p:nvSpPr>
          <p:spPr>
            <a:xfrm>
              <a:off x="914196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3" name="Freeform 13"/>
            <p:cNvSpPr/>
            <p:nvPr/>
          </p:nvSpPr>
          <p:spPr>
            <a:xfrm>
              <a:off x="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41C44"/>
        </a:solidFill>
        <a:effectLst/>
      </p:bgPr>
    </p:bg>
    <p:spTree>
      <p:nvGrpSpPr>
        <p:cNvPr id="1" name=""/>
        <p:cNvGrpSpPr/>
        <p:nvPr/>
      </p:nvGrpSpPr>
      <p:grpSpPr>
        <a:xfrm>
          <a:off x="0" y="0"/>
          <a:ext cx="0" cy="0"/>
          <a:chOff x="0" y="0"/>
          <a:chExt cx="0" cy="0"/>
        </a:xfrm>
      </p:grpSpPr>
      <p:sp>
        <p:nvSpPr>
          <p:cNvPr id="2" name="AutoShape 2"/>
          <p:cNvSpPr/>
          <p:nvPr/>
        </p:nvSpPr>
        <p:spPr>
          <a:xfrm>
            <a:off x="-20" y="1009650"/>
            <a:ext cx="18288020" cy="0"/>
          </a:xfrm>
          <a:prstGeom prst="line">
            <a:avLst/>
          </a:prstGeom>
          <a:ln w="38100" cap="rnd">
            <a:solidFill>
              <a:srgbClr val="D9D9D9"/>
            </a:solidFill>
            <a:prstDash val="sysDot"/>
            <a:headEnd type="none" w="sm" len="sm"/>
            <a:tailEnd type="none" w="sm" len="sm"/>
          </a:ln>
        </p:spPr>
        <p:txBody>
          <a:bodyPr/>
          <a:lstStyle/>
          <a:p>
            <a:endParaRPr lang="en-US"/>
          </a:p>
        </p:txBody>
      </p:sp>
      <p:sp>
        <p:nvSpPr>
          <p:cNvPr id="3" name="AutoShape 3"/>
          <p:cNvSpPr/>
          <p:nvPr/>
        </p:nvSpPr>
        <p:spPr>
          <a:xfrm rot="3580">
            <a:off x="-5" y="9229725"/>
            <a:ext cx="18288030" cy="0"/>
          </a:xfrm>
          <a:prstGeom prst="line">
            <a:avLst/>
          </a:prstGeom>
          <a:ln w="38100" cap="rnd">
            <a:solidFill>
              <a:srgbClr val="D9D9D9"/>
            </a:solidFill>
            <a:prstDash val="sysDot"/>
            <a:headEnd type="none" w="sm" len="sm"/>
            <a:tailEnd type="none" w="sm" len="sm"/>
          </a:ln>
        </p:spPr>
        <p:txBody>
          <a:bodyPr/>
          <a:lstStyle/>
          <a:p>
            <a:endParaRPr lang="en-US"/>
          </a:p>
        </p:txBody>
      </p:sp>
      <p:sp>
        <p:nvSpPr>
          <p:cNvPr id="4" name="AutoShape 4"/>
          <p:cNvSpPr/>
          <p:nvPr/>
        </p:nvSpPr>
        <p:spPr>
          <a:xfrm rot="-5406366">
            <a:off x="-4143384" y="5124450"/>
            <a:ext cx="10287018" cy="0"/>
          </a:xfrm>
          <a:prstGeom prst="line">
            <a:avLst/>
          </a:prstGeom>
          <a:ln w="38100" cap="rnd">
            <a:solidFill>
              <a:srgbClr val="D9D9D9"/>
            </a:solidFill>
            <a:prstDash val="sysDot"/>
            <a:headEnd type="none" w="sm" len="sm"/>
            <a:tailEnd type="none" w="sm" len="sm"/>
          </a:ln>
        </p:spPr>
        <p:txBody>
          <a:bodyPr/>
          <a:lstStyle/>
          <a:p>
            <a:endParaRPr lang="en-US"/>
          </a:p>
        </p:txBody>
      </p:sp>
      <p:sp>
        <p:nvSpPr>
          <p:cNvPr id="5" name="AutoShape 5"/>
          <p:cNvSpPr/>
          <p:nvPr/>
        </p:nvSpPr>
        <p:spPr>
          <a:xfrm rot="-5400000">
            <a:off x="12115782" y="5124468"/>
            <a:ext cx="10287035" cy="0"/>
          </a:xfrm>
          <a:prstGeom prst="line">
            <a:avLst/>
          </a:prstGeom>
          <a:ln w="38100" cap="rnd">
            <a:solidFill>
              <a:srgbClr val="D9D9D9"/>
            </a:solidFill>
            <a:prstDash val="sysDot"/>
            <a:headEnd type="none" w="sm" len="sm"/>
            <a:tailEnd type="none" w="sm" len="sm"/>
          </a:ln>
        </p:spPr>
        <p:txBody>
          <a:bodyPr/>
          <a:lstStyle/>
          <a:p>
            <a:endParaRPr lang="en-US"/>
          </a:p>
        </p:txBody>
      </p:sp>
      <p:sp>
        <p:nvSpPr>
          <p:cNvPr id="6" name="TextBox 6"/>
          <p:cNvSpPr txBox="1"/>
          <p:nvPr/>
        </p:nvSpPr>
        <p:spPr>
          <a:xfrm>
            <a:off x="4405880" y="4049498"/>
            <a:ext cx="9476220" cy="1959405"/>
          </a:xfrm>
          <a:prstGeom prst="rect">
            <a:avLst/>
          </a:prstGeom>
        </p:spPr>
        <p:txBody>
          <a:bodyPr lIns="0" tIns="0" rIns="0" bIns="0" rtlCol="0" anchor="t">
            <a:spAutoFit/>
          </a:bodyPr>
          <a:lstStyle/>
          <a:p>
            <a:pPr algn="ctr">
              <a:lnSpc>
                <a:spcPts val="15901"/>
              </a:lnSpc>
            </a:pPr>
            <a:r>
              <a:rPr lang="en-US" sz="11358" spc="397">
                <a:solidFill>
                  <a:srgbClr val="FFFFFF"/>
                </a:solidFill>
                <a:latin typeface="Glacial Indifference Bold"/>
              </a:rPr>
              <a:t>COMMUNITY</a:t>
            </a:r>
          </a:p>
        </p:txBody>
      </p:sp>
      <p:grpSp>
        <p:nvGrpSpPr>
          <p:cNvPr id="7" name="Group 7"/>
          <p:cNvGrpSpPr/>
          <p:nvPr/>
        </p:nvGrpSpPr>
        <p:grpSpPr>
          <a:xfrm rot="-5400000">
            <a:off x="12301619" y="4593059"/>
            <a:ext cx="9953462" cy="767273"/>
            <a:chOff x="0" y="0"/>
            <a:chExt cx="13271283" cy="1023030"/>
          </a:xfrm>
        </p:grpSpPr>
        <p:sp>
          <p:nvSpPr>
            <p:cNvPr id="8" name="Freeform 8"/>
            <p:cNvSpPr/>
            <p:nvPr/>
          </p:nvSpPr>
          <p:spPr>
            <a:xfrm>
              <a:off x="12248252" y="0"/>
              <a:ext cx="1023030" cy="1023030"/>
            </a:xfrm>
            <a:custGeom>
              <a:avLst/>
              <a:gdLst/>
              <a:ahLst/>
              <a:cxnLst/>
              <a:rect l="l" t="t" r="r" b="b"/>
              <a:pathLst>
                <a:path w="1023030" h="1023030">
                  <a:moveTo>
                    <a:pt x="0" y="0"/>
                  </a:moveTo>
                  <a:lnTo>
                    <a:pt x="1023031" y="0"/>
                  </a:lnTo>
                  <a:lnTo>
                    <a:pt x="1023031" y="1023030"/>
                  </a:lnTo>
                  <a:lnTo>
                    <a:pt x="0" y="10230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3106292"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457098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Freeform 11"/>
            <p:cNvSpPr/>
            <p:nvPr/>
          </p:nvSpPr>
          <p:spPr>
            <a:xfrm>
              <a:off x="7677272" y="0"/>
              <a:ext cx="1023030" cy="1023030"/>
            </a:xfrm>
            <a:custGeom>
              <a:avLst/>
              <a:gdLst/>
              <a:ahLst/>
              <a:cxnLst/>
              <a:rect l="l" t="t" r="r" b="b"/>
              <a:pathLst>
                <a:path w="1023030" h="1023030">
                  <a:moveTo>
                    <a:pt x="0" y="0"/>
                  </a:moveTo>
                  <a:lnTo>
                    <a:pt x="1023031" y="0"/>
                  </a:lnTo>
                  <a:lnTo>
                    <a:pt x="1023031" y="1023030"/>
                  </a:lnTo>
                  <a:lnTo>
                    <a:pt x="0" y="102303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2" name="Freeform 12"/>
            <p:cNvSpPr/>
            <p:nvPr/>
          </p:nvSpPr>
          <p:spPr>
            <a:xfrm>
              <a:off x="914196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3" name="Freeform 13"/>
            <p:cNvSpPr/>
            <p:nvPr/>
          </p:nvSpPr>
          <p:spPr>
            <a:xfrm>
              <a:off x="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sp>
        <p:nvSpPr>
          <p:cNvPr id="14" name="TextBox 14"/>
          <p:cNvSpPr txBox="1"/>
          <p:nvPr/>
        </p:nvSpPr>
        <p:spPr>
          <a:xfrm>
            <a:off x="404000" y="3408910"/>
            <a:ext cx="10585513" cy="707263"/>
          </a:xfrm>
          <a:prstGeom prst="rect">
            <a:avLst/>
          </a:prstGeom>
        </p:spPr>
        <p:txBody>
          <a:bodyPr lIns="0" tIns="0" rIns="0" bIns="0" rtlCol="0" anchor="t">
            <a:spAutoFit/>
          </a:bodyPr>
          <a:lstStyle/>
          <a:p>
            <a:pPr algn="ctr">
              <a:lnSpc>
                <a:spcPts val="5966"/>
              </a:lnSpc>
            </a:pPr>
            <a:r>
              <a:rPr lang="en-US" sz="3800" spc="133">
                <a:solidFill>
                  <a:srgbClr val="FFFFFF"/>
                </a:solidFill>
                <a:latin typeface="Breathing"/>
              </a:rPr>
              <a:t>Connected</a:t>
            </a:r>
          </a:p>
        </p:txBody>
      </p:sp>
      <p:sp>
        <p:nvSpPr>
          <p:cNvPr id="15" name="TextBox 15"/>
          <p:cNvSpPr txBox="1"/>
          <p:nvPr/>
        </p:nvSpPr>
        <p:spPr>
          <a:xfrm>
            <a:off x="8043090" y="3332392"/>
            <a:ext cx="10585513" cy="707263"/>
          </a:xfrm>
          <a:prstGeom prst="rect">
            <a:avLst/>
          </a:prstGeom>
        </p:spPr>
        <p:txBody>
          <a:bodyPr lIns="0" tIns="0" rIns="0" bIns="0" rtlCol="0" anchor="t">
            <a:spAutoFit/>
          </a:bodyPr>
          <a:lstStyle/>
          <a:p>
            <a:pPr algn="ctr">
              <a:lnSpc>
                <a:spcPts val="5966"/>
              </a:lnSpc>
            </a:pPr>
            <a:r>
              <a:rPr lang="en-US" sz="3800" spc="133">
                <a:solidFill>
                  <a:srgbClr val="FFFFFF"/>
                </a:solidFill>
                <a:latin typeface="Breathing"/>
              </a:rPr>
              <a:t>Intentional</a:t>
            </a:r>
          </a:p>
        </p:txBody>
      </p:sp>
      <p:sp>
        <p:nvSpPr>
          <p:cNvPr id="16" name="TextBox 16"/>
          <p:cNvSpPr txBox="1"/>
          <p:nvPr/>
        </p:nvSpPr>
        <p:spPr>
          <a:xfrm>
            <a:off x="6138533" y="6038530"/>
            <a:ext cx="10585513" cy="707263"/>
          </a:xfrm>
          <a:prstGeom prst="rect">
            <a:avLst/>
          </a:prstGeom>
        </p:spPr>
        <p:txBody>
          <a:bodyPr lIns="0" tIns="0" rIns="0" bIns="0" rtlCol="0" anchor="t">
            <a:spAutoFit/>
          </a:bodyPr>
          <a:lstStyle/>
          <a:p>
            <a:pPr algn="ctr">
              <a:lnSpc>
                <a:spcPts val="5966"/>
              </a:lnSpc>
            </a:pPr>
            <a:r>
              <a:rPr lang="en-US" sz="3800" spc="133">
                <a:solidFill>
                  <a:srgbClr val="FFFFFF"/>
                </a:solidFill>
                <a:latin typeface="Breathing"/>
              </a:rPr>
              <a:t>Inclusive</a:t>
            </a:r>
          </a:p>
        </p:txBody>
      </p:sp>
      <p:sp>
        <p:nvSpPr>
          <p:cNvPr id="17" name="TextBox 17"/>
          <p:cNvSpPr txBox="1"/>
          <p:nvPr/>
        </p:nvSpPr>
        <p:spPr>
          <a:xfrm>
            <a:off x="-2432895" y="6038530"/>
            <a:ext cx="10585513" cy="707263"/>
          </a:xfrm>
          <a:prstGeom prst="rect">
            <a:avLst/>
          </a:prstGeom>
        </p:spPr>
        <p:txBody>
          <a:bodyPr lIns="0" tIns="0" rIns="0" bIns="0" rtlCol="0" anchor="t">
            <a:spAutoFit/>
          </a:bodyPr>
          <a:lstStyle/>
          <a:p>
            <a:pPr algn="ctr">
              <a:lnSpc>
                <a:spcPts val="5966"/>
              </a:lnSpc>
            </a:pPr>
            <a:r>
              <a:rPr lang="en-US" sz="3800" spc="133">
                <a:solidFill>
                  <a:srgbClr val="FFFFFF"/>
                </a:solidFill>
                <a:latin typeface="Breathing"/>
              </a:rPr>
              <a:t>Empowering</a:t>
            </a:r>
          </a:p>
        </p:txBody>
      </p:sp>
      <p:sp>
        <p:nvSpPr>
          <p:cNvPr id="18" name="TextBox 18"/>
          <p:cNvSpPr txBox="1"/>
          <p:nvPr/>
        </p:nvSpPr>
        <p:spPr>
          <a:xfrm>
            <a:off x="-2323367" y="3384843"/>
            <a:ext cx="10585513" cy="707263"/>
          </a:xfrm>
          <a:prstGeom prst="rect">
            <a:avLst/>
          </a:prstGeom>
        </p:spPr>
        <p:txBody>
          <a:bodyPr lIns="0" tIns="0" rIns="0" bIns="0" rtlCol="0" anchor="t">
            <a:spAutoFit/>
          </a:bodyPr>
          <a:lstStyle/>
          <a:p>
            <a:pPr algn="ctr">
              <a:lnSpc>
                <a:spcPts val="5966"/>
              </a:lnSpc>
            </a:pPr>
            <a:r>
              <a:rPr lang="en-US" sz="3800" spc="133">
                <a:solidFill>
                  <a:srgbClr val="FFFFFF"/>
                </a:solidFill>
                <a:latin typeface="Breathing"/>
              </a:rPr>
              <a:t>Safe</a:t>
            </a:r>
          </a:p>
        </p:txBody>
      </p:sp>
      <p:sp>
        <p:nvSpPr>
          <p:cNvPr id="19" name="TextBox 19"/>
          <p:cNvSpPr txBox="1"/>
          <p:nvPr/>
        </p:nvSpPr>
        <p:spPr>
          <a:xfrm>
            <a:off x="9895991" y="5875552"/>
            <a:ext cx="10585513" cy="707263"/>
          </a:xfrm>
          <a:prstGeom prst="rect">
            <a:avLst/>
          </a:prstGeom>
        </p:spPr>
        <p:txBody>
          <a:bodyPr lIns="0" tIns="0" rIns="0" bIns="0" rtlCol="0" anchor="t">
            <a:spAutoFit/>
          </a:bodyPr>
          <a:lstStyle/>
          <a:p>
            <a:pPr algn="ctr">
              <a:lnSpc>
                <a:spcPts val="5966"/>
              </a:lnSpc>
            </a:pPr>
            <a:r>
              <a:rPr lang="en-US" sz="3800" spc="133">
                <a:solidFill>
                  <a:srgbClr val="FFFFFF"/>
                </a:solidFill>
                <a:latin typeface="Breathing"/>
              </a:rPr>
              <a:t>Welcoming</a:t>
            </a:r>
          </a:p>
        </p:txBody>
      </p:sp>
      <p:sp>
        <p:nvSpPr>
          <p:cNvPr id="20" name="TextBox 20"/>
          <p:cNvSpPr txBox="1"/>
          <p:nvPr/>
        </p:nvSpPr>
        <p:spPr>
          <a:xfrm>
            <a:off x="1824534" y="5997890"/>
            <a:ext cx="10585513" cy="707263"/>
          </a:xfrm>
          <a:prstGeom prst="rect">
            <a:avLst/>
          </a:prstGeom>
        </p:spPr>
        <p:txBody>
          <a:bodyPr lIns="0" tIns="0" rIns="0" bIns="0" rtlCol="0" anchor="t">
            <a:spAutoFit/>
          </a:bodyPr>
          <a:lstStyle/>
          <a:p>
            <a:pPr algn="ctr">
              <a:lnSpc>
                <a:spcPts val="5966"/>
              </a:lnSpc>
            </a:pPr>
            <a:r>
              <a:rPr lang="en-US" sz="3800" spc="133">
                <a:solidFill>
                  <a:srgbClr val="FFFFFF"/>
                </a:solidFill>
                <a:latin typeface="Breathing"/>
              </a:rPr>
              <a:t>Comfortable</a:t>
            </a:r>
          </a:p>
        </p:txBody>
      </p:sp>
      <p:sp>
        <p:nvSpPr>
          <p:cNvPr id="21" name="TextBox 21"/>
          <p:cNvSpPr txBox="1"/>
          <p:nvPr/>
        </p:nvSpPr>
        <p:spPr>
          <a:xfrm>
            <a:off x="4093587" y="3289339"/>
            <a:ext cx="10585513" cy="707263"/>
          </a:xfrm>
          <a:prstGeom prst="rect">
            <a:avLst/>
          </a:prstGeom>
        </p:spPr>
        <p:txBody>
          <a:bodyPr lIns="0" tIns="0" rIns="0" bIns="0" rtlCol="0" anchor="t">
            <a:spAutoFit/>
          </a:bodyPr>
          <a:lstStyle/>
          <a:p>
            <a:pPr algn="ctr">
              <a:lnSpc>
                <a:spcPts val="5966"/>
              </a:lnSpc>
            </a:pPr>
            <a:r>
              <a:rPr lang="en-US" sz="3800" spc="133">
                <a:solidFill>
                  <a:srgbClr val="FFFFFF"/>
                </a:solidFill>
                <a:latin typeface="Breathing"/>
              </a:rPr>
              <a:t>Caring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41C44"/>
        </a:solidFill>
        <a:effectLst/>
      </p:bgPr>
    </p:bg>
    <p:spTree>
      <p:nvGrpSpPr>
        <p:cNvPr id="1" name=""/>
        <p:cNvGrpSpPr/>
        <p:nvPr/>
      </p:nvGrpSpPr>
      <p:grpSpPr>
        <a:xfrm>
          <a:off x="0" y="0"/>
          <a:ext cx="0" cy="0"/>
          <a:chOff x="0" y="0"/>
          <a:chExt cx="0" cy="0"/>
        </a:xfrm>
      </p:grpSpPr>
      <p:sp>
        <p:nvSpPr>
          <p:cNvPr id="2" name="AutoShape 2"/>
          <p:cNvSpPr/>
          <p:nvPr/>
        </p:nvSpPr>
        <p:spPr>
          <a:xfrm>
            <a:off x="-20" y="1009650"/>
            <a:ext cx="18288020" cy="0"/>
          </a:xfrm>
          <a:prstGeom prst="line">
            <a:avLst/>
          </a:prstGeom>
          <a:ln w="38100" cap="rnd">
            <a:solidFill>
              <a:srgbClr val="D9D9D9"/>
            </a:solidFill>
            <a:prstDash val="sysDot"/>
            <a:headEnd type="none" w="sm" len="sm"/>
            <a:tailEnd type="none" w="sm" len="sm"/>
          </a:ln>
        </p:spPr>
        <p:txBody>
          <a:bodyPr/>
          <a:lstStyle/>
          <a:p>
            <a:endParaRPr lang="en-US"/>
          </a:p>
        </p:txBody>
      </p:sp>
      <p:sp>
        <p:nvSpPr>
          <p:cNvPr id="3" name="AutoShape 3"/>
          <p:cNvSpPr/>
          <p:nvPr/>
        </p:nvSpPr>
        <p:spPr>
          <a:xfrm rot="3580">
            <a:off x="-5" y="9229725"/>
            <a:ext cx="18288030" cy="0"/>
          </a:xfrm>
          <a:prstGeom prst="line">
            <a:avLst/>
          </a:prstGeom>
          <a:ln w="38100" cap="rnd">
            <a:solidFill>
              <a:srgbClr val="D9D9D9"/>
            </a:solidFill>
            <a:prstDash val="sysDot"/>
            <a:headEnd type="none" w="sm" len="sm"/>
            <a:tailEnd type="none" w="sm" len="sm"/>
          </a:ln>
        </p:spPr>
        <p:txBody>
          <a:bodyPr/>
          <a:lstStyle/>
          <a:p>
            <a:endParaRPr lang="en-US"/>
          </a:p>
        </p:txBody>
      </p:sp>
      <p:sp>
        <p:nvSpPr>
          <p:cNvPr id="4" name="AutoShape 4"/>
          <p:cNvSpPr/>
          <p:nvPr/>
        </p:nvSpPr>
        <p:spPr>
          <a:xfrm rot="-5406366">
            <a:off x="-4143384" y="5124450"/>
            <a:ext cx="10287018" cy="0"/>
          </a:xfrm>
          <a:prstGeom prst="line">
            <a:avLst/>
          </a:prstGeom>
          <a:ln w="38100" cap="rnd">
            <a:solidFill>
              <a:srgbClr val="D9D9D9"/>
            </a:solidFill>
            <a:prstDash val="sysDot"/>
            <a:headEnd type="none" w="sm" len="sm"/>
            <a:tailEnd type="none" w="sm" len="sm"/>
          </a:ln>
        </p:spPr>
        <p:txBody>
          <a:bodyPr/>
          <a:lstStyle/>
          <a:p>
            <a:endParaRPr lang="en-US"/>
          </a:p>
        </p:txBody>
      </p:sp>
      <p:sp>
        <p:nvSpPr>
          <p:cNvPr id="5" name="AutoShape 5"/>
          <p:cNvSpPr/>
          <p:nvPr/>
        </p:nvSpPr>
        <p:spPr>
          <a:xfrm rot="-5400000">
            <a:off x="12115782" y="5124468"/>
            <a:ext cx="10287035" cy="0"/>
          </a:xfrm>
          <a:prstGeom prst="line">
            <a:avLst/>
          </a:prstGeom>
          <a:ln w="38100" cap="rnd">
            <a:solidFill>
              <a:srgbClr val="D9D9D9"/>
            </a:solidFill>
            <a:prstDash val="sysDot"/>
            <a:headEnd type="none" w="sm" len="sm"/>
            <a:tailEnd type="none" w="sm" len="sm"/>
          </a:ln>
        </p:spPr>
        <p:txBody>
          <a:bodyPr/>
          <a:lstStyle/>
          <a:p>
            <a:endParaRPr lang="en-US"/>
          </a:p>
        </p:txBody>
      </p:sp>
      <p:sp>
        <p:nvSpPr>
          <p:cNvPr id="6" name="TextBox 6"/>
          <p:cNvSpPr txBox="1"/>
          <p:nvPr/>
        </p:nvSpPr>
        <p:spPr>
          <a:xfrm>
            <a:off x="2004564" y="3332704"/>
            <a:ext cx="14096952" cy="3352409"/>
          </a:xfrm>
          <a:prstGeom prst="rect">
            <a:avLst/>
          </a:prstGeom>
        </p:spPr>
        <p:txBody>
          <a:bodyPr lIns="0" tIns="0" rIns="0" bIns="0" rtlCol="0" anchor="t">
            <a:spAutoFit/>
          </a:bodyPr>
          <a:lstStyle/>
          <a:p>
            <a:pPr algn="ctr">
              <a:lnSpc>
                <a:spcPts val="8747"/>
              </a:lnSpc>
            </a:pPr>
            <a:r>
              <a:rPr lang="en-US" sz="8099" b="1" spc="283">
                <a:solidFill>
                  <a:srgbClr val="FFFFFF"/>
                </a:solidFill>
                <a:latin typeface="Glacial Indifference"/>
              </a:rPr>
              <a:t>How can we practice and implement these values as community leaders?</a:t>
            </a:r>
          </a:p>
        </p:txBody>
      </p:sp>
      <p:sp>
        <p:nvSpPr>
          <p:cNvPr id="7" name="Freeform 7"/>
          <p:cNvSpPr/>
          <p:nvPr/>
        </p:nvSpPr>
        <p:spPr>
          <a:xfrm>
            <a:off x="1028700" y="8953500"/>
            <a:ext cx="571500" cy="571500"/>
          </a:xfrm>
          <a:custGeom>
            <a:avLst/>
            <a:gdLst/>
            <a:ahLst/>
            <a:cxnLst/>
            <a:rect l="l" t="t" r="r" b="b"/>
            <a:pathLst>
              <a:path w="571500" h="571500">
                <a:moveTo>
                  <a:pt x="0" y="0"/>
                </a:moveTo>
                <a:lnTo>
                  <a:pt x="571500" y="0"/>
                </a:lnTo>
                <a:lnTo>
                  <a:pt x="571500" y="571500"/>
                </a:lnTo>
                <a:lnTo>
                  <a:pt x="0" y="5715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41C44"/>
        </a:solidFill>
        <a:effectLst/>
      </p:bgPr>
    </p:bg>
    <p:spTree>
      <p:nvGrpSpPr>
        <p:cNvPr id="1" name=""/>
        <p:cNvGrpSpPr/>
        <p:nvPr/>
      </p:nvGrpSpPr>
      <p:grpSpPr>
        <a:xfrm>
          <a:off x="0" y="0"/>
          <a:ext cx="0" cy="0"/>
          <a:chOff x="0" y="0"/>
          <a:chExt cx="0" cy="0"/>
        </a:xfrm>
      </p:grpSpPr>
      <p:sp>
        <p:nvSpPr>
          <p:cNvPr id="2" name="AutoShape 2"/>
          <p:cNvSpPr/>
          <p:nvPr/>
        </p:nvSpPr>
        <p:spPr>
          <a:xfrm>
            <a:off x="-60" y="1009685"/>
            <a:ext cx="18288020" cy="0"/>
          </a:xfrm>
          <a:prstGeom prst="line">
            <a:avLst/>
          </a:prstGeom>
          <a:ln w="38100" cap="rnd">
            <a:solidFill>
              <a:srgbClr val="D9D9D9"/>
            </a:solidFill>
            <a:prstDash val="sysDot"/>
            <a:headEnd type="none" w="sm" len="sm"/>
            <a:tailEnd type="none" w="sm" len="sm"/>
          </a:ln>
        </p:spPr>
        <p:txBody>
          <a:bodyPr/>
          <a:lstStyle/>
          <a:p>
            <a:endParaRPr lang="en-US"/>
          </a:p>
        </p:txBody>
      </p:sp>
      <p:sp>
        <p:nvSpPr>
          <p:cNvPr id="3" name="AutoShape 3"/>
          <p:cNvSpPr/>
          <p:nvPr/>
        </p:nvSpPr>
        <p:spPr>
          <a:xfrm rot="3580">
            <a:off x="-45" y="9229760"/>
            <a:ext cx="18288030" cy="0"/>
          </a:xfrm>
          <a:prstGeom prst="line">
            <a:avLst/>
          </a:prstGeom>
          <a:ln w="38100" cap="rnd">
            <a:solidFill>
              <a:srgbClr val="D9D9D9"/>
            </a:solidFill>
            <a:prstDash val="sysDot"/>
            <a:headEnd type="none" w="sm" len="sm"/>
            <a:tailEnd type="none" w="sm" len="sm"/>
          </a:ln>
        </p:spPr>
        <p:txBody>
          <a:bodyPr/>
          <a:lstStyle/>
          <a:p>
            <a:endParaRPr lang="en-US"/>
          </a:p>
        </p:txBody>
      </p:sp>
      <p:sp>
        <p:nvSpPr>
          <p:cNvPr id="4" name="AutoShape 4"/>
          <p:cNvSpPr/>
          <p:nvPr/>
        </p:nvSpPr>
        <p:spPr>
          <a:xfrm rot="-5406366">
            <a:off x="-4143424" y="5124485"/>
            <a:ext cx="10287018" cy="0"/>
          </a:xfrm>
          <a:prstGeom prst="line">
            <a:avLst/>
          </a:prstGeom>
          <a:ln w="38100" cap="rnd">
            <a:solidFill>
              <a:srgbClr val="D9D9D9"/>
            </a:solidFill>
            <a:prstDash val="sysDot"/>
            <a:headEnd type="none" w="sm" len="sm"/>
            <a:tailEnd type="none" w="sm" len="sm"/>
          </a:ln>
        </p:spPr>
        <p:txBody>
          <a:bodyPr/>
          <a:lstStyle/>
          <a:p>
            <a:endParaRPr lang="en-US"/>
          </a:p>
        </p:txBody>
      </p:sp>
      <p:sp>
        <p:nvSpPr>
          <p:cNvPr id="5" name="AutoShape 5"/>
          <p:cNvSpPr/>
          <p:nvPr/>
        </p:nvSpPr>
        <p:spPr>
          <a:xfrm rot="-5400000">
            <a:off x="12115743" y="5124503"/>
            <a:ext cx="10287035" cy="0"/>
          </a:xfrm>
          <a:prstGeom prst="line">
            <a:avLst/>
          </a:prstGeom>
          <a:ln w="38100" cap="rnd">
            <a:solidFill>
              <a:srgbClr val="D9D9D9"/>
            </a:solidFill>
            <a:prstDash val="sysDot"/>
            <a:headEnd type="none" w="sm" len="sm"/>
            <a:tailEnd type="none" w="sm" len="sm"/>
          </a:ln>
        </p:spPr>
        <p:txBody>
          <a:bodyPr/>
          <a:lstStyle/>
          <a:p>
            <a:endParaRPr lang="en-US"/>
          </a:p>
        </p:txBody>
      </p:sp>
      <p:sp>
        <p:nvSpPr>
          <p:cNvPr id="6" name="TextBox 6"/>
          <p:cNvSpPr txBox="1"/>
          <p:nvPr/>
        </p:nvSpPr>
        <p:spPr>
          <a:xfrm>
            <a:off x="3381809" y="1232098"/>
            <a:ext cx="11524283" cy="1445036"/>
          </a:xfrm>
          <a:prstGeom prst="rect">
            <a:avLst/>
          </a:prstGeom>
        </p:spPr>
        <p:txBody>
          <a:bodyPr lIns="0" tIns="0" rIns="0" bIns="0" rtlCol="0" anchor="t">
            <a:spAutoFit/>
          </a:bodyPr>
          <a:lstStyle/>
          <a:p>
            <a:pPr algn="ctr">
              <a:lnSpc>
                <a:spcPts val="11702"/>
              </a:lnSpc>
            </a:pPr>
            <a:r>
              <a:rPr lang="en-US" sz="8358" spc="292">
                <a:solidFill>
                  <a:srgbClr val="FFFFFF"/>
                </a:solidFill>
                <a:latin typeface="Glacial Indifference"/>
              </a:rPr>
              <a:t>Building Connections</a:t>
            </a:r>
          </a:p>
        </p:txBody>
      </p:sp>
      <p:grpSp>
        <p:nvGrpSpPr>
          <p:cNvPr id="7" name="Group 7"/>
          <p:cNvGrpSpPr/>
          <p:nvPr/>
        </p:nvGrpSpPr>
        <p:grpSpPr>
          <a:xfrm>
            <a:off x="765136" y="8875335"/>
            <a:ext cx="8948443" cy="689800"/>
            <a:chOff x="0" y="0"/>
            <a:chExt cx="11931257" cy="919733"/>
          </a:xfrm>
        </p:grpSpPr>
        <p:sp>
          <p:nvSpPr>
            <p:cNvPr id="8" name="Freeform 8"/>
            <p:cNvSpPr/>
            <p:nvPr/>
          </p:nvSpPr>
          <p:spPr>
            <a:xfrm>
              <a:off x="1101152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279264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410944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Freeform 11"/>
            <p:cNvSpPr/>
            <p:nvPr/>
          </p:nvSpPr>
          <p:spPr>
            <a:xfrm>
              <a:off x="690208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2" name="Freeform 12"/>
            <p:cNvSpPr/>
            <p:nvPr/>
          </p:nvSpPr>
          <p:spPr>
            <a:xfrm>
              <a:off x="821888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3" name="Freeform 13"/>
            <p:cNvSpPr/>
            <p:nvPr/>
          </p:nvSpPr>
          <p:spPr>
            <a:xfrm>
              <a:off x="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sp>
        <p:nvSpPr>
          <p:cNvPr id="14" name="TextBox 14"/>
          <p:cNvSpPr txBox="1"/>
          <p:nvPr/>
        </p:nvSpPr>
        <p:spPr>
          <a:xfrm>
            <a:off x="1806886" y="3073269"/>
            <a:ext cx="12484163" cy="4406900"/>
          </a:xfrm>
          <a:prstGeom prst="rect">
            <a:avLst/>
          </a:prstGeom>
        </p:spPr>
        <p:txBody>
          <a:bodyPr lIns="0" tIns="0" rIns="0" bIns="0" rtlCol="0" anchor="t">
            <a:spAutoFit/>
          </a:bodyPr>
          <a:lstStyle/>
          <a:p>
            <a:pPr marL="1079501" lvl="1" indent="-539750" algn="l">
              <a:lnSpc>
                <a:spcPts val="7000"/>
              </a:lnSpc>
              <a:buFont typeface="Arial"/>
              <a:buChar char="•"/>
            </a:pPr>
            <a:r>
              <a:rPr lang="en-US" sz="5000">
                <a:solidFill>
                  <a:srgbClr val="FFFFFF"/>
                </a:solidFill>
                <a:latin typeface="Open Sans"/>
              </a:rPr>
              <a:t>Can be structured or unstructured</a:t>
            </a:r>
          </a:p>
          <a:p>
            <a:pPr marL="1079501" lvl="1" indent="-539750" algn="l">
              <a:lnSpc>
                <a:spcPts val="7000"/>
              </a:lnSpc>
              <a:buFont typeface="Arial"/>
              <a:buChar char="•"/>
            </a:pPr>
            <a:r>
              <a:rPr lang="en-US" sz="5000">
                <a:solidFill>
                  <a:srgbClr val="FFFFFF"/>
                </a:solidFill>
                <a:latin typeface="Open Sans"/>
              </a:rPr>
              <a:t>Should be consistent and re-enforced</a:t>
            </a:r>
          </a:p>
          <a:p>
            <a:pPr marL="1079501" lvl="1" indent="-539750" algn="l">
              <a:lnSpc>
                <a:spcPts val="7000"/>
              </a:lnSpc>
              <a:buFont typeface="Arial"/>
              <a:buChar char="•"/>
            </a:pPr>
            <a:r>
              <a:rPr lang="en-US" sz="5000">
                <a:solidFill>
                  <a:srgbClr val="FFFFFF"/>
                </a:solidFill>
                <a:latin typeface="Open Sans"/>
              </a:rPr>
              <a:t>Require you to be engaged</a:t>
            </a:r>
          </a:p>
          <a:p>
            <a:pPr marL="1079501" lvl="1" indent="-539750" algn="l">
              <a:lnSpc>
                <a:spcPts val="7000"/>
              </a:lnSpc>
              <a:buFont typeface="Arial"/>
              <a:buChar char="•"/>
            </a:pPr>
            <a:r>
              <a:rPr lang="en-US" sz="5000">
                <a:solidFill>
                  <a:srgbClr val="FFFFFF"/>
                </a:solidFill>
                <a:latin typeface="Open Sans"/>
              </a:rPr>
              <a:t>Can be fun, but may also be more serious in nature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41C44"/>
        </a:solidFill>
        <a:effectLst/>
      </p:bgPr>
    </p:bg>
    <p:spTree>
      <p:nvGrpSpPr>
        <p:cNvPr id="1" name=""/>
        <p:cNvGrpSpPr/>
        <p:nvPr/>
      </p:nvGrpSpPr>
      <p:grpSpPr>
        <a:xfrm>
          <a:off x="0" y="0"/>
          <a:ext cx="0" cy="0"/>
          <a:chOff x="0" y="0"/>
          <a:chExt cx="0" cy="0"/>
        </a:xfrm>
      </p:grpSpPr>
      <p:sp>
        <p:nvSpPr>
          <p:cNvPr id="2" name="AutoShape 2"/>
          <p:cNvSpPr/>
          <p:nvPr/>
        </p:nvSpPr>
        <p:spPr>
          <a:xfrm>
            <a:off x="0" y="2529154"/>
            <a:ext cx="18288020" cy="0"/>
          </a:xfrm>
          <a:prstGeom prst="line">
            <a:avLst/>
          </a:prstGeom>
          <a:ln w="38100" cap="rnd">
            <a:solidFill>
              <a:srgbClr val="D9D9D9"/>
            </a:solidFill>
            <a:prstDash val="sysDot"/>
            <a:headEnd type="none" w="sm" len="sm"/>
            <a:tailEnd type="none" w="sm" len="sm"/>
          </a:ln>
        </p:spPr>
        <p:txBody>
          <a:bodyPr/>
          <a:lstStyle/>
          <a:p>
            <a:endParaRPr lang="en-US"/>
          </a:p>
        </p:txBody>
      </p:sp>
      <p:sp>
        <p:nvSpPr>
          <p:cNvPr id="3" name="AutoShape 3"/>
          <p:cNvSpPr/>
          <p:nvPr/>
        </p:nvSpPr>
        <p:spPr>
          <a:xfrm rot="3580">
            <a:off x="-45" y="9229760"/>
            <a:ext cx="18288030" cy="0"/>
          </a:xfrm>
          <a:prstGeom prst="line">
            <a:avLst/>
          </a:prstGeom>
          <a:ln w="38100" cap="rnd">
            <a:solidFill>
              <a:srgbClr val="D9D9D9"/>
            </a:solidFill>
            <a:prstDash val="sysDot"/>
            <a:headEnd type="none" w="sm" len="sm"/>
            <a:tailEnd type="none" w="sm" len="sm"/>
          </a:ln>
        </p:spPr>
        <p:txBody>
          <a:bodyPr/>
          <a:lstStyle/>
          <a:p>
            <a:endParaRPr lang="en-US"/>
          </a:p>
        </p:txBody>
      </p:sp>
      <p:sp>
        <p:nvSpPr>
          <p:cNvPr id="4" name="AutoShape 4"/>
          <p:cNvSpPr/>
          <p:nvPr/>
        </p:nvSpPr>
        <p:spPr>
          <a:xfrm rot="-5406366">
            <a:off x="-4143424" y="5124485"/>
            <a:ext cx="10287018" cy="0"/>
          </a:xfrm>
          <a:prstGeom prst="line">
            <a:avLst/>
          </a:prstGeom>
          <a:ln w="38100" cap="rnd">
            <a:solidFill>
              <a:srgbClr val="D9D9D9"/>
            </a:solidFill>
            <a:prstDash val="sysDot"/>
            <a:headEnd type="none" w="sm" len="sm"/>
            <a:tailEnd type="none" w="sm" len="sm"/>
          </a:ln>
        </p:spPr>
        <p:txBody>
          <a:bodyPr/>
          <a:lstStyle/>
          <a:p>
            <a:endParaRPr lang="en-US"/>
          </a:p>
        </p:txBody>
      </p:sp>
      <p:sp>
        <p:nvSpPr>
          <p:cNvPr id="5" name="AutoShape 5"/>
          <p:cNvSpPr/>
          <p:nvPr/>
        </p:nvSpPr>
        <p:spPr>
          <a:xfrm rot="-5400000">
            <a:off x="12115743" y="5124503"/>
            <a:ext cx="10287035" cy="0"/>
          </a:xfrm>
          <a:prstGeom prst="line">
            <a:avLst/>
          </a:prstGeom>
          <a:ln w="38100" cap="rnd">
            <a:solidFill>
              <a:srgbClr val="D9D9D9"/>
            </a:solidFill>
            <a:prstDash val="sysDot"/>
            <a:headEnd type="none" w="sm" len="sm"/>
            <a:tailEnd type="none" w="sm" len="sm"/>
          </a:ln>
        </p:spPr>
        <p:txBody>
          <a:bodyPr/>
          <a:lstStyle/>
          <a:p>
            <a:endParaRPr lang="en-US"/>
          </a:p>
        </p:txBody>
      </p:sp>
      <p:sp>
        <p:nvSpPr>
          <p:cNvPr id="6" name="Freeform 6"/>
          <p:cNvSpPr/>
          <p:nvPr/>
        </p:nvSpPr>
        <p:spPr>
          <a:xfrm>
            <a:off x="1323682" y="267221"/>
            <a:ext cx="2057347" cy="2057347"/>
          </a:xfrm>
          <a:custGeom>
            <a:avLst/>
            <a:gdLst/>
            <a:ahLst/>
            <a:cxnLst/>
            <a:rect l="l" t="t" r="r" b="b"/>
            <a:pathLst>
              <a:path w="2057347" h="2057347">
                <a:moveTo>
                  <a:pt x="0" y="0"/>
                </a:moveTo>
                <a:lnTo>
                  <a:pt x="2057348" y="0"/>
                </a:lnTo>
                <a:lnTo>
                  <a:pt x="2057348" y="2057347"/>
                </a:lnTo>
                <a:lnTo>
                  <a:pt x="0" y="205734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7" name="Group 7"/>
          <p:cNvGrpSpPr/>
          <p:nvPr/>
        </p:nvGrpSpPr>
        <p:grpSpPr>
          <a:xfrm>
            <a:off x="3544998" y="3442936"/>
            <a:ext cx="5334500" cy="2254827"/>
            <a:chOff x="0" y="0"/>
            <a:chExt cx="1404971" cy="593864"/>
          </a:xfrm>
        </p:grpSpPr>
        <p:sp>
          <p:nvSpPr>
            <p:cNvPr id="8" name="Freeform 8"/>
            <p:cNvSpPr/>
            <p:nvPr/>
          </p:nvSpPr>
          <p:spPr>
            <a:xfrm>
              <a:off x="0" y="0"/>
              <a:ext cx="1404971" cy="593864"/>
            </a:xfrm>
            <a:custGeom>
              <a:avLst/>
              <a:gdLst/>
              <a:ahLst/>
              <a:cxnLst/>
              <a:rect l="l" t="t" r="r" b="b"/>
              <a:pathLst>
                <a:path w="1404971" h="593864">
                  <a:moveTo>
                    <a:pt x="74016" y="0"/>
                  </a:moveTo>
                  <a:lnTo>
                    <a:pt x="1330955" y="0"/>
                  </a:lnTo>
                  <a:cubicBezTo>
                    <a:pt x="1371833" y="0"/>
                    <a:pt x="1404971" y="33138"/>
                    <a:pt x="1404971" y="74016"/>
                  </a:cubicBezTo>
                  <a:lnTo>
                    <a:pt x="1404971" y="519848"/>
                  </a:lnTo>
                  <a:cubicBezTo>
                    <a:pt x="1404971" y="539478"/>
                    <a:pt x="1397173" y="558305"/>
                    <a:pt x="1383292" y="572185"/>
                  </a:cubicBezTo>
                  <a:cubicBezTo>
                    <a:pt x="1369412" y="586066"/>
                    <a:pt x="1350585" y="593864"/>
                    <a:pt x="1330955" y="593864"/>
                  </a:cubicBezTo>
                  <a:lnTo>
                    <a:pt x="74016" y="593864"/>
                  </a:lnTo>
                  <a:cubicBezTo>
                    <a:pt x="33138" y="593864"/>
                    <a:pt x="0" y="560726"/>
                    <a:pt x="0" y="519848"/>
                  </a:cubicBezTo>
                  <a:lnTo>
                    <a:pt x="0" y="74016"/>
                  </a:lnTo>
                  <a:cubicBezTo>
                    <a:pt x="0" y="33138"/>
                    <a:pt x="33138" y="0"/>
                    <a:pt x="74016" y="0"/>
                  </a:cubicBezTo>
                  <a:close/>
                </a:path>
              </a:pathLst>
            </a:custGeom>
            <a:solidFill>
              <a:srgbClr val="FFCAC2"/>
            </a:solidFill>
          </p:spPr>
          <p:txBody>
            <a:bodyPr/>
            <a:lstStyle/>
            <a:p>
              <a:endParaRPr lang="en-US"/>
            </a:p>
          </p:txBody>
        </p:sp>
        <p:sp>
          <p:nvSpPr>
            <p:cNvPr id="9" name="TextBox 9"/>
            <p:cNvSpPr txBox="1"/>
            <p:nvPr/>
          </p:nvSpPr>
          <p:spPr>
            <a:xfrm>
              <a:off x="0" y="-38100"/>
              <a:ext cx="1404971" cy="631964"/>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3381030" y="798368"/>
            <a:ext cx="10996936" cy="1445036"/>
          </a:xfrm>
          <a:prstGeom prst="rect">
            <a:avLst/>
          </a:prstGeom>
        </p:spPr>
        <p:txBody>
          <a:bodyPr lIns="0" tIns="0" rIns="0" bIns="0" rtlCol="0" anchor="t">
            <a:spAutoFit/>
          </a:bodyPr>
          <a:lstStyle/>
          <a:p>
            <a:pPr algn="ctr">
              <a:lnSpc>
                <a:spcPts val="11702"/>
              </a:lnSpc>
            </a:pPr>
            <a:r>
              <a:rPr lang="en-US" sz="8358" spc="292">
                <a:solidFill>
                  <a:srgbClr val="FFFFFF"/>
                </a:solidFill>
                <a:latin typeface="Breathing"/>
              </a:rPr>
              <a:t>Tommie Advantage</a:t>
            </a:r>
          </a:p>
        </p:txBody>
      </p:sp>
      <p:grpSp>
        <p:nvGrpSpPr>
          <p:cNvPr id="11" name="Group 11"/>
          <p:cNvGrpSpPr/>
          <p:nvPr/>
        </p:nvGrpSpPr>
        <p:grpSpPr>
          <a:xfrm>
            <a:off x="9408443" y="3442936"/>
            <a:ext cx="5334500" cy="2254827"/>
            <a:chOff x="0" y="0"/>
            <a:chExt cx="1404971" cy="593864"/>
          </a:xfrm>
        </p:grpSpPr>
        <p:sp>
          <p:nvSpPr>
            <p:cNvPr id="12" name="Freeform 12"/>
            <p:cNvSpPr/>
            <p:nvPr/>
          </p:nvSpPr>
          <p:spPr>
            <a:xfrm>
              <a:off x="0" y="0"/>
              <a:ext cx="1404971" cy="593864"/>
            </a:xfrm>
            <a:custGeom>
              <a:avLst/>
              <a:gdLst/>
              <a:ahLst/>
              <a:cxnLst/>
              <a:rect l="l" t="t" r="r" b="b"/>
              <a:pathLst>
                <a:path w="1404971" h="593864">
                  <a:moveTo>
                    <a:pt x="74016" y="0"/>
                  </a:moveTo>
                  <a:lnTo>
                    <a:pt x="1330955" y="0"/>
                  </a:lnTo>
                  <a:cubicBezTo>
                    <a:pt x="1371833" y="0"/>
                    <a:pt x="1404971" y="33138"/>
                    <a:pt x="1404971" y="74016"/>
                  </a:cubicBezTo>
                  <a:lnTo>
                    <a:pt x="1404971" y="519848"/>
                  </a:lnTo>
                  <a:cubicBezTo>
                    <a:pt x="1404971" y="539478"/>
                    <a:pt x="1397173" y="558305"/>
                    <a:pt x="1383292" y="572185"/>
                  </a:cubicBezTo>
                  <a:cubicBezTo>
                    <a:pt x="1369412" y="586066"/>
                    <a:pt x="1350585" y="593864"/>
                    <a:pt x="1330955" y="593864"/>
                  </a:cubicBezTo>
                  <a:lnTo>
                    <a:pt x="74016" y="593864"/>
                  </a:lnTo>
                  <a:cubicBezTo>
                    <a:pt x="33138" y="593864"/>
                    <a:pt x="0" y="560726"/>
                    <a:pt x="0" y="519848"/>
                  </a:cubicBezTo>
                  <a:lnTo>
                    <a:pt x="0" y="74016"/>
                  </a:lnTo>
                  <a:cubicBezTo>
                    <a:pt x="0" y="33138"/>
                    <a:pt x="33138" y="0"/>
                    <a:pt x="74016" y="0"/>
                  </a:cubicBezTo>
                  <a:close/>
                </a:path>
              </a:pathLst>
            </a:custGeom>
            <a:solidFill>
              <a:srgbClr val="91D2DB"/>
            </a:solidFill>
          </p:spPr>
          <p:txBody>
            <a:bodyPr/>
            <a:lstStyle/>
            <a:p>
              <a:endParaRPr lang="en-US"/>
            </a:p>
          </p:txBody>
        </p:sp>
        <p:sp>
          <p:nvSpPr>
            <p:cNvPr id="13" name="TextBox 13"/>
            <p:cNvSpPr txBox="1"/>
            <p:nvPr/>
          </p:nvSpPr>
          <p:spPr>
            <a:xfrm>
              <a:off x="0" y="-38100"/>
              <a:ext cx="1404971" cy="631964"/>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3544998" y="5983513"/>
            <a:ext cx="5334500" cy="2254827"/>
            <a:chOff x="0" y="0"/>
            <a:chExt cx="1404971" cy="593864"/>
          </a:xfrm>
        </p:grpSpPr>
        <p:sp>
          <p:nvSpPr>
            <p:cNvPr id="15" name="Freeform 15"/>
            <p:cNvSpPr/>
            <p:nvPr/>
          </p:nvSpPr>
          <p:spPr>
            <a:xfrm>
              <a:off x="0" y="0"/>
              <a:ext cx="1404971" cy="593864"/>
            </a:xfrm>
            <a:custGeom>
              <a:avLst/>
              <a:gdLst/>
              <a:ahLst/>
              <a:cxnLst/>
              <a:rect l="l" t="t" r="r" b="b"/>
              <a:pathLst>
                <a:path w="1404971" h="593864">
                  <a:moveTo>
                    <a:pt x="74016" y="0"/>
                  </a:moveTo>
                  <a:lnTo>
                    <a:pt x="1330955" y="0"/>
                  </a:lnTo>
                  <a:cubicBezTo>
                    <a:pt x="1371833" y="0"/>
                    <a:pt x="1404971" y="33138"/>
                    <a:pt x="1404971" y="74016"/>
                  </a:cubicBezTo>
                  <a:lnTo>
                    <a:pt x="1404971" y="519848"/>
                  </a:lnTo>
                  <a:cubicBezTo>
                    <a:pt x="1404971" y="539478"/>
                    <a:pt x="1397173" y="558305"/>
                    <a:pt x="1383292" y="572185"/>
                  </a:cubicBezTo>
                  <a:cubicBezTo>
                    <a:pt x="1369412" y="586066"/>
                    <a:pt x="1350585" y="593864"/>
                    <a:pt x="1330955" y="593864"/>
                  </a:cubicBezTo>
                  <a:lnTo>
                    <a:pt x="74016" y="593864"/>
                  </a:lnTo>
                  <a:cubicBezTo>
                    <a:pt x="33138" y="593864"/>
                    <a:pt x="0" y="560726"/>
                    <a:pt x="0" y="519848"/>
                  </a:cubicBezTo>
                  <a:lnTo>
                    <a:pt x="0" y="74016"/>
                  </a:lnTo>
                  <a:cubicBezTo>
                    <a:pt x="0" y="33138"/>
                    <a:pt x="33138" y="0"/>
                    <a:pt x="74016" y="0"/>
                  </a:cubicBezTo>
                  <a:close/>
                </a:path>
              </a:pathLst>
            </a:custGeom>
            <a:solidFill>
              <a:srgbClr val="9867A6"/>
            </a:solidFill>
          </p:spPr>
          <p:txBody>
            <a:bodyPr/>
            <a:lstStyle/>
            <a:p>
              <a:endParaRPr lang="en-US"/>
            </a:p>
          </p:txBody>
        </p:sp>
        <p:sp>
          <p:nvSpPr>
            <p:cNvPr id="16" name="TextBox 16"/>
            <p:cNvSpPr txBox="1"/>
            <p:nvPr/>
          </p:nvSpPr>
          <p:spPr>
            <a:xfrm>
              <a:off x="0" y="-38100"/>
              <a:ext cx="1404971" cy="631964"/>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9408443" y="5983513"/>
            <a:ext cx="5334500" cy="2254827"/>
            <a:chOff x="0" y="0"/>
            <a:chExt cx="1404971" cy="593864"/>
          </a:xfrm>
        </p:grpSpPr>
        <p:sp>
          <p:nvSpPr>
            <p:cNvPr id="18" name="Freeform 18"/>
            <p:cNvSpPr/>
            <p:nvPr/>
          </p:nvSpPr>
          <p:spPr>
            <a:xfrm>
              <a:off x="0" y="0"/>
              <a:ext cx="1404971" cy="593864"/>
            </a:xfrm>
            <a:custGeom>
              <a:avLst/>
              <a:gdLst/>
              <a:ahLst/>
              <a:cxnLst/>
              <a:rect l="l" t="t" r="r" b="b"/>
              <a:pathLst>
                <a:path w="1404971" h="593864">
                  <a:moveTo>
                    <a:pt x="74016" y="0"/>
                  </a:moveTo>
                  <a:lnTo>
                    <a:pt x="1330955" y="0"/>
                  </a:lnTo>
                  <a:cubicBezTo>
                    <a:pt x="1371833" y="0"/>
                    <a:pt x="1404971" y="33138"/>
                    <a:pt x="1404971" y="74016"/>
                  </a:cubicBezTo>
                  <a:lnTo>
                    <a:pt x="1404971" y="519848"/>
                  </a:lnTo>
                  <a:cubicBezTo>
                    <a:pt x="1404971" y="539478"/>
                    <a:pt x="1397173" y="558305"/>
                    <a:pt x="1383292" y="572185"/>
                  </a:cubicBezTo>
                  <a:cubicBezTo>
                    <a:pt x="1369412" y="586066"/>
                    <a:pt x="1350585" y="593864"/>
                    <a:pt x="1330955" y="593864"/>
                  </a:cubicBezTo>
                  <a:lnTo>
                    <a:pt x="74016" y="593864"/>
                  </a:lnTo>
                  <a:cubicBezTo>
                    <a:pt x="33138" y="593864"/>
                    <a:pt x="0" y="560726"/>
                    <a:pt x="0" y="519848"/>
                  </a:cubicBezTo>
                  <a:lnTo>
                    <a:pt x="0" y="74016"/>
                  </a:lnTo>
                  <a:cubicBezTo>
                    <a:pt x="0" y="33138"/>
                    <a:pt x="33138" y="0"/>
                    <a:pt x="74016" y="0"/>
                  </a:cubicBezTo>
                  <a:close/>
                </a:path>
              </a:pathLst>
            </a:custGeom>
            <a:solidFill>
              <a:srgbClr val="AFD68B"/>
            </a:solidFill>
          </p:spPr>
          <p:txBody>
            <a:bodyPr/>
            <a:lstStyle/>
            <a:p>
              <a:endParaRPr lang="en-US"/>
            </a:p>
          </p:txBody>
        </p:sp>
        <p:sp>
          <p:nvSpPr>
            <p:cNvPr id="19" name="TextBox 19"/>
            <p:cNvSpPr txBox="1"/>
            <p:nvPr/>
          </p:nvSpPr>
          <p:spPr>
            <a:xfrm>
              <a:off x="0" y="-38100"/>
              <a:ext cx="1404971" cy="631964"/>
            </a:xfrm>
            <a:prstGeom prst="rect">
              <a:avLst/>
            </a:prstGeom>
          </p:spPr>
          <p:txBody>
            <a:bodyPr lIns="50800" tIns="50800" rIns="50800" bIns="50800" rtlCol="0" anchor="ctr"/>
            <a:lstStyle/>
            <a:p>
              <a:pPr algn="ctr">
                <a:lnSpc>
                  <a:spcPts val="2659"/>
                </a:lnSpc>
                <a:spcBef>
                  <a:spcPct val="0"/>
                </a:spcBef>
              </a:pPr>
              <a:endParaRPr/>
            </a:p>
          </p:txBody>
        </p:sp>
      </p:grpSp>
      <p:sp>
        <p:nvSpPr>
          <p:cNvPr id="20" name="TextBox 20"/>
          <p:cNvSpPr txBox="1"/>
          <p:nvPr/>
        </p:nvSpPr>
        <p:spPr>
          <a:xfrm>
            <a:off x="4407868" y="3920807"/>
            <a:ext cx="3608760" cy="1089535"/>
          </a:xfrm>
          <a:prstGeom prst="rect">
            <a:avLst/>
          </a:prstGeom>
        </p:spPr>
        <p:txBody>
          <a:bodyPr lIns="0" tIns="0" rIns="0" bIns="0" rtlCol="0" anchor="t">
            <a:spAutoFit/>
          </a:bodyPr>
          <a:lstStyle/>
          <a:p>
            <a:pPr algn="ctr">
              <a:lnSpc>
                <a:spcPts val="9105"/>
              </a:lnSpc>
            </a:pPr>
            <a:r>
              <a:rPr lang="en-US" sz="5799" spc="202">
                <a:solidFill>
                  <a:srgbClr val="FFFFFF"/>
                </a:solidFill>
                <a:latin typeface="Glacial Indifference"/>
              </a:rPr>
              <a:t>Events</a:t>
            </a:r>
          </a:p>
        </p:txBody>
      </p:sp>
      <p:sp>
        <p:nvSpPr>
          <p:cNvPr id="21" name="TextBox 21"/>
          <p:cNvSpPr txBox="1"/>
          <p:nvPr/>
        </p:nvSpPr>
        <p:spPr>
          <a:xfrm>
            <a:off x="10271313" y="3911282"/>
            <a:ext cx="3608760" cy="1142114"/>
          </a:xfrm>
          <a:prstGeom prst="rect">
            <a:avLst/>
          </a:prstGeom>
        </p:spPr>
        <p:txBody>
          <a:bodyPr lIns="0" tIns="0" rIns="0" bIns="0" rtlCol="0" anchor="t">
            <a:spAutoFit/>
          </a:bodyPr>
          <a:lstStyle/>
          <a:p>
            <a:pPr algn="ctr">
              <a:lnSpc>
                <a:spcPts val="9576"/>
              </a:lnSpc>
            </a:pPr>
            <a:r>
              <a:rPr lang="en-US" sz="6099" spc="213">
                <a:solidFill>
                  <a:srgbClr val="FFFFFF"/>
                </a:solidFill>
                <a:latin typeface="Glacial Indifference"/>
              </a:rPr>
              <a:t>1 : 1 s</a:t>
            </a:r>
          </a:p>
        </p:txBody>
      </p:sp>
      <p:sp>
        <p:nvSpPr>
          <p:cNvPr id="22" name="TextBox 22"/>
          <p:cNvSpPr txBox="1"/>
          <p:nvPr/>
        </p:nvSpPr>
        <p:spPr>
          <a:xfrm>
            <a:off x="4407868" y="6607436"/>
            <a:ext cx="3608760" cy="936879"/>
          </a:xfrm>
          <a:prstGeom prst="rect">
            <a:avLst/>
          </a:prstGeom>
        </p:spPr>
        <p:txBody>
          <a:bodyPr lIns="0" tIns="0" rIns="0" bIns="0" rtlCol="0" anchor="t">
            <a:spAutoFit/>
          </a:bodyPr>
          <a:lstStyle/>
          <a:p>
            <a:pPr algn="ctr">
              <a:lnSpc>
                <a:spcPts val="3663"/>
              </a:lnSpc>
            </a:pPr>
            <a:r>
              <a:rPr lang="en-US" sz="3700" spc="129">
                <a:solidFill>
                  <a:srgbClr val="FFFFFF"/>
                </a:solidFill>
                <a:latin typeface="Glacial Indifference"/>
              </a:rPr>
              <a:t>Community Communications</a:t>
            </a:r>
          </a:p>
        </p:txBody>
      </p:sp>
      <p:sp>
        <p:nvSpPr>
          <p:cNvPr id="23" name="TextBox 23"/>
          <p:cNvSpPr txBox="1"/>
          <p:nvPr/>
        </p:nvSpPr>
        <p:spPr>
          <a:xfrm>
            <a:off x="10271313" y="6511995"/>
            <a:ext cx="3608760" cy="1283588"/>
          </a:xfrm>
          <a:prstGeom prst="rect">
            <a:avLst/>
          </a:prstGeom>
        </p:spPr>
        <p:txBody>
          <a:bodyPr lIns="0" tIns="0" rIns="0" bIns="0" rtlCol="0" anchor="t">
            <a:spAutoFit/>
          </a:bodyPr>
          <a:lstStyle/>
          <a:p>
            <a:pPr algn="ctr">
              <a:lnSpc>
                <a:spcPts val="4997"/>
              </a:lnSpc>
            </a:pPr>
            <a:r>
              <a:rPr lang="en-US" sz="4899" spc="171">
                <a:solidFill>
                  <a:srgbClr val="FFFFFF"/>
                </a:solidFill>
                <a:latin typeface="Glacial Indifference"/>
              </a:rPr>
              <a:t>Community Meetings</a:t>
            </a:r>
          </a:p>
        </p:txBody>
      </p:sp>
    </p:spTree>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41C44"/>
        </a:solidFill>
        <a:effectLst/>
      </p:bgPr>
    </p:bg>
    <p:spTree>
      <p:nvGrpSpPr>
        <p:cNvPr id="1" name=""/>
        <p:cNvGrpSpPr/>
        <p:nvPr/>
      </p:nvGrpSpPr>
      <p:grpSpPr>
        <a:xfrm>
          <a:off x="0" y="0"/>
          <a:ext cx="0" cy="0"/>
          <a:chOff x="0" y="0"/>
          <a:chExt cx="0" cy="0"/>
        </a:xfrm>
      </p:grpSpPr>
      <p:sp>
        <p:nvSpPr>
          <p:cNvPr id="2" name="AutoShape 2"/>
          <p:cNvSpPr/>
          <p:nvPr/>
        </p:nvSpPr>
        <p:spPr>
          <a:xfrm>
            <a:off x="-60" y="2122151"/>
            <a:ext cx="18288020" cy="0"/>
          </a:xfrm>
          <a:prstGeom prst="line">
            <a:avLst/>
          </a:prstGeom>
          <a:ln w="38100" cap="rnd">
            <a:solidFill>
              <a:srgbClr val="D9D9D9"/>
            </a:solidFill>
            <a:prstDash val="sysDot"/>
            <a:headEnd type="none" w="sm" len="sm"/>
            <a:tailEnd type="none" w="sm" len="sm"/>
          </a:ln>
        </p:spPr>
        <p:txBody>
          <a:bodyPr/>
          <a:lstStyle/>
          <a:p>
            <a:endParaRPr lang="en-US"/>
          </a:p>
        </p:txBody>
      </p:sp>
      <p:sp>
        <p:nvSpPr>
          <p:cNvPr id="3" name="AutoShape 3"/>
          <p:cNvSpPr/>
          <p:nvPr/>
        </p:nvSpPr>
        <p:spPr>
          <a:xfrm rot="3580">
            <a:off x="-45" y="9229760"/>
            <a:ext cx="18288030" cy="0"/>
          </a:xfrm>
          <a:prstGeom prst="line">
            <a:avLst/>
          </a:prstGeom>
          <a:ln w="38100" cap="rnd">
            <a:solidFill>
              <a:srgbClr val="D9D9D9"/>
            </a:solidFill>
            <a:prstDash val="sysDot"/>
            <a:headEnd type="none" w="sm" len="sm"/>
            <a:tailEnd type="none" w="sm" len="sm"/>
          </a:ln>
        </p:spPr>
        <p:txBody>
          <a:bodyPr/>
          <a:lstStyle/>
          <a:p>
            <a:endParaRPr lang="en-US"/>
          </a:p>
        </p:txBody>
      </p:sp>
      <p:sp>
        <p:nvSpPr>
          <p:cNvPr id="4" name="AutoShape 4"/>
          <p:cNvSpPr/>
          <p:nvPr/>
        </p:nvSpPr>
        <p:spPr>
          <a:xfrm rot="-5406366">
            <a:off x="-4143424" y="5124485"/>
            <a:ext cx="10287018" cy="0"/>
          </a:xfrm>
          <a:prstGeom prst="line">
            <a:avLst/>
          </a:prstGeom>
          <a:ln w="38100" cap="rnd">
            <a:solidFill>
              <a:srgbClr val="D9D9D9"/>
            </a:solidFill>
            <a:prstDash val="sysDot"/>
            <a:headEnd type="none" w="sm" len="sm"/>
            <a:tailEnd type="none" w="sm" len="sm"/>
          </a:ln>
        </p:spPr>
        <p:txBody>
          <a:bodyPr/>
          <a:lstStyle/>
          <a:p>
            <a:endParaRPr lang="en-US"/>
          </a:p>
        </p:txBody>
      </p:sp>
      <p:sp>
        <p:nvSpPr>
          <p:cNvPr id="5" name="AutoShape 5"/>
          <p:cNvSpPr/>
          <p:nvPr/>
        </p:nvSpPr>
        <p:spPr>
          <a:xfrm rot="-5400000">
            <a:off x="12115743" y="5124503"/>
            <a:ext cx="10287035" cy="0"/>
          </a:xfrm>
          <a:prstGeom prst="line">
            <a:avLst/>
          </a:prstGeom>
          <a:ln w="38100" cap="rnd">
            <a:solidFill>
              <a:srgbClr val="D9D9D9"/>
            </a:solidFill>
            <a:prstDash val="sysDot"/>
            <a:headEnd type="none" w="sm" len="sm"/>
            <a:tailEnd type="none" w="sm" len="sm"/>
          </a:ln>
        </p:spPr>
        <p:txBody>
          <a:bodyPr/>
          <a:lstStyle/>
          <a:p>
            <a:endParaRPr lang="en-US"/>
          </a:p>
        </p:txBody>
      </p:sp>
      <p:grpSp>
        <p:nvGrpSpPr>
          <p:cNvPr id="6" name="Group 6"/>
          <p:cNvGrpSpPr/>
          <p:nvPr/>
        </p:nvGrpSpPr>
        <p:grpSpPr>
          <a:xfrm>
            <a:off x="8709856" y="8903910"/>
            <a:ext cx="8948443" cy="689800"/>
            <a:chOff x="0" y="0"/>
            <a:chExt cx="11931257" cy="919733"/>
          </a:xfrm>
        </p:grpSpPr>
        <p:sp>
          <p:nvSpPr>
            <p:cNvPr id="7" name="Freeform 7"/>
            <p:cNvSpPr/>
            <p:nvPr/>
          </p:nvSpPr>
          <p:spPr>
            <a:xfrm>
              <a:off x="1101152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a:off x="279264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p:cNvSpPr/>
            <p:nvPr/>
          </p:nvSpPr>
          <p:spPr>
            <a:xfrm>
              <a:off x="410944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0" name="Freeform 10"/>
            <p:cNvSpPr/>
            <p:nvPr/>
          </p:nvSpPr>
          <p:spPr>
            <a:xfrm>
              <a:off x="690208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1" name="Freeform 11"/>
            <p:cNvSpPr/>
            <p:nvPr/>
          </p:nvSpPr>
          <p:spPr>
            <a:xfrm>
              <a:off x="821888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2" name="Freeform 12"/>
            <p:cNvSpPr/>
            <p:nvPr/>
          </p:nvSpPr>
          <p:spPr>
            <a:xfrm>
              <a:off x="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sp>
        <p:nvSpPr>
          <p:cNvPr id="13" name="TextBox 13"/>
          <p:cNvSpPr txBox="1"/>
          <p:nvPr/>
        </p:nvSpPr>
        <p:spPr>
          <a:xfrm>
            <a:off x="1782792" y="2872670"/>
            <a:ext cx="13854128" cy="5292725"/>
          </a:xfrm>
          <a:prstGeom prst="rect">
            <a:avLst/>
          </a:prstGeom>
        </p:spPr>
        <p:txBody>
          <a:bodyPr lIns="0" tIns="0" rIns="0" bIns="0" rtlCol="0" anchor="t">
            <a:spAutoFit/>
          </a:bodyPr>
          <a:lstStyle/>
          <a:p>
            <a:pPr marL="1079501" lvl="1" indent="-539750" algn="l">
              <a:lnSpc>
                <a:spcPts val="7000"/>
              </a:lnSpc>
              <a:buFont typeface="Arial"/>
              <a:buChar char="•"/>
            </a:pPr>
            <a:r>
              <a:rPr lang="en-US" sz="5000">
                <a:solidFill>
                  <a:srgbClr val="FFFFFF"/>
                </a:solidFill>
                <a:latin typeface="Open Sans"/>
              </a:rPr>
              <a:t>Connection that is not scripted or formalized but IS individualized</a:t>
            </a:r>
          </a:p>
          <a:p>
            <a:pPr marL="1079501" lvl="1" indent="-539750" algn="l">
              <a:lnSpc>
                <a:spcPts val="7000"/>
              </a:lnSpc>
              <a:buFont typeface="Arial"/>
              <a:buChar char="•"/>
            </a:pPr>
            <a:r>
              <a:rPr lang="en-US" sz="5000">
                <a:solidFill>
                  <a:srgbClr val="FFFFFF"/>
                </a:solidFill>
                <a:latin typeface="Open Sans"/>
              </a:rPr>
              <a:t>Connection that is still intentional</a:t>
            </a:r>
          </a:p>
          <a:p>
            <a:pPr marL="1079501" lvl="1" indent="-539750" algn="l">
              <a:lnSpc>
                <a:spcPts val="7000"/>
              </a:lnSpc>
              <a:buFont typeface="Arial"/>
              <a:buChar char="•"/>
            </a:pPr>
            <a:r>
              <a:rPr lang="en-US" sz="5000">
                <a:solidFill>
                  <a:srgbClr val="FFFFFF"/>
                </a:solidFill>
                <a:latin typeface="Open Sans"/>
              </a:rPr>
              <a:t>Perceptive and engaged</a:t>
            </a:r>
          </a:p>
          <a:p>
            <a:pPr marL="1079501" lvl="1" indent="-539750" algn="l">
              <a:lnSpc>
                <a:spcPts val="7000"/>
              </a:lnSpc>
              <a:buFont typeface="Arial"/>
              <a:buChar char="•"/>
            </a:pPr>
            <a:r>
              <a:rPr lang="en-US" sz="5000">
                <a:solidFill>
                  <a:srgbClr val="FFFFFF"/>
                </a:solidFill>
                <a:latin typeface="Open Sans"/>
              </a:rPr>
              <a:t>Focused on building or maintaining connection</a:t>
            </a:r>
          </a:p>
        </p:txBody>
      </p:sp>
      <p:sp>
        <p:nvSpPr>
          <p:cNvPr id="14" name="Freeform 14"/>
          <p:cNvSpPr/>
          <p:nvPr/>
        </p:nvSpPr>
        <p:spPr>
          <a:xfrm>
            <a:off x="1396844" y="212654"/>
            <a:ext cx="1651142" cy="1651142"/>
          </a:xfrm>
          <a:custGeom>
            <a:avLst/>
            <a:gdLst/>
            <a:ahLst/>
            <a:cxnLst/>
            <a:rect l="l" t="t" r="r" b="b"/>
            <a:pathLst>
              <a:path w="1651142" h="1651142">
                <a:moveTo>
                  <a:pt x="0" y="0"/>
                </a:moveTo>
                <a:lnTo>
                  <a:pt x="1651141" y="0"/>
                </a:lnTo>
                <a:lnTo>
                  <a:pt x="1651141" y="1651142"/>
                </a:lnTo>
                <a:lnTo>
                  <a:pt x="0" y="1651142"/>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5" name="TextBox 15"/>
          <p:cNvSpPr txBox="1"/>
          <p:nvPr/>
        </p:nvSpPr>
        <p:spPr>
          <a:xfrm>
            <a:off x="2832410" y="694989"/>
            <a:ext cx="12623181" cy="1178332"/>
          </a:xfrm>
          <a:prstGeom prst="rect">
            <a:avLst/>
          </a:prstGeom>
        </p:spPr>
        <p:txBody>
          <a:bodyPr lIns="0" tIns="0" rIns="0" bIns="0" rtlCol="0" anchor="t">
            <a:spAutoFit/>
          </a:bodyPr>
          <a:lstStyle/>
          <a:p>
            <a:pPr algn="ctr">
              <a:lnSpc>
                <a:spcPts val="9602"/>
              </a:lnSpc>
            </a:pPr>
            <a:r>
              <a:rPr lang="en-US" sz="6858" spc="240">
                <a:solidFill>
                  <a:srgbClr val="FFFFFF"/>
                </a:solidFill>
                <a:latin typeface="Breathing"/>
              </a:rPr>
              <a:t>Informal Touch Points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41C44"/>
        </a:solidFill>
        <a:effectLst/>
      </p:bgPr>
    </p:bg>
    <p:spTree>
      <p:nvGrpSpPr>
        <p:cNvPr id="1" name=""/>
        <p:cNvGrpSpPr/>
        <p:nvPr/>
      </p:nvGrpSpPr>
      <p:grpSpPr>
        <a:xfrm>
          <a:off x="0" y="0"/>
          <a:ext cx="0" cy="0"/>
          <a:chOff x="0" y="0"/>
          <a:chExt cx="0" cy="0"/>
        </a:xfrm>
      </p:grpSpPr>
      <p:sp>
        <p:nvSpPr>
          <p:cNvPr id="2" name="AutoShape 2"/>
          <p:cNvSpPr/>
          <p:nvPr/>
        </p:nvSpPr>
        <p:spPr>
          <a:xfrm>
            <a:off x="-60" y="1009685"/>
            <a:ext cx="18288020" cy="0"/>
          </a:xfrm>
          <a:prstGeom prst="line">
            <a:avLst/>
          </a:prstGeom>
          <a:ln w="38100" cap="rnd">
            <a:solidFill>
              <a:srgbClr val="D9D9D9"/>
            </a:solidFill>
            <a:prstDash val="sysDot"/>
            <a:headEnd type="none" w="sm" len="sm"/>
            <a:tailEnd type="none" w="sm" len="sm"/>
          </a:ln>
        </p:spPr>
        <p:txBody>
          <a:bodyPr/>
          <a:lstStyle/>
          <a:p>
            <a:endParaRPr lang="en-US"/>
          </a:p>
        </p:txBody>
      </p:sp>
      <p:sp>
        <p:nvSpPr>
          <p:cNvPr id="3" name="AutoShape 3"/>
          <p:cNvSpPr/>
          <p:nvPr/>
        </p:nvSpPr>
        <p:spPr>
          <a:xfrm rot="3580">
            <a:off x="-45" y="9229760"/>
            <a:ext cx="18288030" cy="0"/>
          </a:xfrm>
          <a:prstGeom prst="line">
            <a:avLst/>
          </a:prstGeom>
          <a:ln w="38100" cap="rnd">
            <a:solidFill>
              <a:srgbClr val="D9D9D9"/>
            </a:solidFill>
            <a:prstDash val="sysDot"/>
            <a:headEnd type="none" w="sm" len="sm"/>
            <a:tailEnd type="none" w="sm" len="sm"/>
          </a:ln>
        </p:spPr>
        <p:txBody>
          <a:bodyPr/>
          <a:lstStyle/>
          <a:p>
            <a:endParaRPr lang="en-US"/>
          </a:p>
        </p:txBody>
      </p:sp>
      <p:sp>
        <p:nvSpPr>
          <p:cNvPr id="4" name="AutoShape 4"/>
          <p:cNvSpPr/>
          <p:nvPr/>
        </p:nvSpPr>
        <p:spPr>
          <a:xfrm rot="-5406366">
            <a:off x="-4143424" y="5124485"/>
            <a:ext cx="10287018" cy="0"/>
          </a:xfrm>
          <a:prstGeom prst="line">
            <a:avLst/>
          </a:prstGeom>
          <a:ln w="38100" cap="rnd">
            <a:solidFill>
              <a:srgbClr val="D9D9D9"/>
            </a:solidFill>
            <a:prstDash val="sysDot"/>
            <a:headEnd type="none" w="sm" len="sm"/>
            <a:tailEnd type="none" w="sm" len="sm"/>
          </a:ln>
        </p:spPr>
        <p:txBody>
          <a:bodyPr/>
          <a:lstStyle/>
          <a:p>
            <a:endParaRPr lang="en-US"/>
          </a:p>
        </p:txBody>
      </p:sp>
      <p:sp>
        <p:nvSpPr>
          <p:cNvPr id="5" name="AutoShape 5"/>
          <p:cNvSpPr/>
          <p:nvPr/>
        </p:nvSpPr>
        <p:spPr>
          <a:xfrm rot="-5400000">
            <a:off x="12115743" y="5124503"/>
            <a:ext cx="10287035" cy="0"/>
          </a:xfrm>
          <a:prstGeom prst="line">
            <a:avLst/>
          </a:prstGeom>
          <a:ln w="38100" cap="rnd">
            <a:solidFill>
              <a:srgbClr val="D9D9D9"/>
            </a:solidFill>
            <a:prstDash val="sysDot"/>
            <a:headEnd type="none" w="sm" len="sm"/>
            <a:tailEnd type="none" w="sm" len="sm"/>
          </a:ln>
        </p:spPr>
        <p:txBody>
          <a:bodyPr/>
          <a:lstStyle/>
          <a:p>
            <a:endParaRPr lang="en-US"/>
          </a:p>
        </p:txBody>
      </p:sp>
      <p:sp>
        <p:nvSpPr>
          <p:cNvPr id="6" name="TextBox 6"/>
          <p:cNvSpPr txBox="1"/>
          <p:nvPr/>
        </p:nvSpPr>
        <p:spPr>
          <a:xfrm>
            <a:off x="2967491" y="4260365"/>
            <a:ext cx="12352918" cy="1994871"/>
          </a:xfrm>
          <a:prstGeom prst="rect">
            <a:avLst/>
          </a:prstGeom>
        </p:spPr>
        <p:txBody>
          <a:bodyPr lIns="0" tIns="0" rIns="0" bIns="0" rtlCol="0" anchor="t">
            <a:spAutoFit/>
          </a:bodyPr>
          <a:lstStyle/>
          <a:p>
            <a:pPr algn="ctr">
              <a:lnSpc>
                <a:spcPts val="7522"/>
              </a:lnSpc>
            </a:pPr>
            <a:r>
              <a:rPr lang="en-US" sz="8358" spc="292" dirty="0">
                <a:solidFill>
                  <a:srgbClr val="FFFFFF"/>
                </a:solidFill>
                <a:latin typeface="Glacial Indifference"/>
              </a:rPr>
              <a:t>Examples of Informal Touch Points</a:t>
            </a:r>
          </a:p>
        </p:txBody>
      </p:sp>
      <p:grpSp>
        <p:nvGrpSpPr>
          <p:cNvPr id="7" name="Group 7"/>
          <p:cNvGrpSpPr/>
          <p:nvPr/>
        </p:nvGrpSpPr>
        <p:grpSpPr>
          <a:xfrm rot="-5400000">
            <a:off x="-3474136" y="6861054"/>
            <a:ext cx="8948443" cy="689800"/>
            <a:chOff x="0" y="0"/>
            <a:chExt cx="11931257" cy="919733"/>
          </a:xfrm>
        </p:grpSpPr>
        <p:sp>
          <p:nvSpPr>
            <p:cNvPr id="8" name="Freeform 8"/>
            <p:cNvSpPr/>
            <p:nvPr/>
          </p:nvSpPr>
          <p:spPr>
            <a:xfrm>
              <a:off x="1101152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a:off x="279264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0" name="Freeform 10"/>
            <p:cNvSpPr/>
            <p:nvPr/>
          </p:nvSpPr>
          <p:spPr>
            <a:xfrm>
              <a:off x="410944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1" name="Freeform 11"/>
            <p:cNvSpPr/>
            <p:nvPr/>
          </p:nvSpPr>
          <p:spPr>
            <a:xfrm>
              <a:off x="690208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2" name="Freeform 12"/>
            <p:cNvSpPr/>
            <p:nvPr/>
          </p:nvSpPr>
          <p:spPr>
            <a:xfrm>
              <a:off x="821888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3" name="Freeform 13"/>
            <p:cNvSpPr/>
            <p:nvPr/>
          </p:nvSpPr>
          <p:spPr>
            <a:xfrm>
              <a:off x="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grpSp>
      <p:sp>
        <p:nvSpPr>
          <p:cNvPr id="14" name="TextBox 14"/>
          <p:cNvSpPr txBox="1"/>
          <p:nvPr/>
        </p:nvSpPr>
        <p:spPr>
          <a:xfrm>
            <a:off x="2676898" y="1578171"/>
            <a:ext cx="3608760" cy="2452659"/>
          </a:xfrm>
          <a:prstGeom prst="rect">
            <a:avLst/>
          </a:prstGeom>
        </p:spPr>
        <p:txBody>
          <a:bodyPr lIns="0" tIns="0" rIns="0" bIns="0" rtlCol="0" anchor="t">
            <a:spAutoFit/>
          </a:bodyPr>
          <a:lstStyle/>
          <a:p>
            <a:pPr algn="ctr">
              <a:lnSpc>
                <a:spcPts val="4697"/>
              </a:lnSpc>
            </a:pPr>
            <a:r>
              <a:rPr lang="en-US" sz="5750" spc="202" dirty="0">
                <a:solidFill>
                  <a:srgbClr val="FFFFFF"/>
                </a:solidFill>
                <a:latin typeface="Glacial Indifference"/>
              </a:rPr>
              <a:t>Knocking on doors to say hello</a:t>
            </a:r>
            <a:endParaRPr lang="en-US" dirty="0"/>
          </a:p>
        </p:txBody>
      </p:sp>
      <p:sp>
        <p:nvSpPr>
          <p:cNvPr id="15" name="TextBox 15"/>
          <p:cNvSpPr txBox="1"/>
          <p:nvPr/>
        </p:nvSpPr>
        <p:spPr>
          <a:xfrm>
            <a:off x="7688332" y="1585364"/>
            <a:ext cx="3608760" cy="1779651"/>
          </a:xfrm>
          <a:prstGeom prst="rect">
            <a:avLst/>
          </a:prstGeom>
        </p:spPr>
        <p:txBody>
          <a:bodyPr lIns="0" tIns="0" rIns="0" bIns="0" rtlCol="0" anchor="t">
            <a:spAutoFit/>
          </a:bodyPr>
          <a:lstStyle/>
          <a:p>
            <a:pPr algn="ctr">
              <a:lnSpc>
                <a:spcPts val="3401"/>
              </a:lnSpc>
            </a:pPr>
            <a:r>
              <a:rPr lang="en-US" sz="4199" spc="146">
                <a:solidFill>
                  <a:srgbClr val="FFFFFF"/>
                </a:solidFill>
                <a:latin typeface="Glacial Indifference"/>
              </a:rPr>
              <a:t>Making conversation in floor GroupMe</a:t>
            </a:r>
          </a:p>
        </p:txBody>
      </p:sp>
      <p:sp>
        <p:nvSpPr>
          <p:cNvPr id="16" name="TextBox 16"/>
          <p:cNvSpPr txBox="1"/>
          <p:nvPr/>
        </p:nvSpPr>
        <p:spPr>
          <a:xfrm>
            <a:off x="12680294" y="1572773"/>
            <a:ext cx="3608760" cy="1841851"/>
          </a:xfrm>
          <a:prstGeom prst="rect">
            <a:avLst/>
          </a:prstGeom>
        </p:spPr>
        <p:txBody>
          <a:bodyPr lIns="0" tIns="0" rIns="0" bIns="0" rtlCol="0" anchor="t">
            <a:spAutoFit/>
          </a:bodyPr>
          <a:lstStyle/>
          <a:p>
            <a:pPr algn="ctr">
              <a:lnSpc>
                <a:spcPts val="4697"/>
              </a:lnSpc>
            </a:pPr>
            <a:r>
              <a:rPr lang="en-US" sz="5750" spc="202" dirty="0">
                <a:solidFill>
                  <a:srgbClr val="FFFFFF"/>
                </a:solidFill>
                <a:latin typeface="Glacial Indifference"/>
              </a:rPr>
              <a:t>Inviting residents to meals</a:t>
            </a:r>
          </a:p>
        </p:txBody>
      </p:sp>
      <p:sp>
        <p:nvSpPr>
          <p:cNvPr id="17" name="TextBox 17"/>
          <p:cNvSpPr txBox="1"/>
          <p:nvPr/>
        </p:nvSpPr>
        <p:spPr>
          <a:xfrm>
            <a:off x="3777313" y="7111724"/>
            <a:ext cx="5010378" cy="1249297"/>
          </a:xfrm>
          <a:prstGeom prst="rect">
            <a:avLst/>
          </a:prstGeom>
        </p:spPr>
        <p:txBody>
          <a:bodyPr lIns="0" tIns="0" rIns="0" bIns="0" rtlCol="0" anchor="t">
            <a:spAutoFit/>
          </a:bodyPr>
          <a:lstStyle/>
          <a:p>
            <a:pPr algn="ctr">
              <a:lnSpc>
                <a:spcPts val="4697"/>
              </a:lnSpc>
            </a:pPr>
            <a:r>
              <a:rPr lang="en-US" sz="5750" spc="202" dirty="0">
                <a:solidFill>
                  <a:srgbClr val="FFFFFF"/>
                </a:solidFill>
                <a:latin typeface="Glacial Indifference"/>
              </a:rPr>
              <a:t>Hosting game nights</a:t>
            </a:r>
          </a:p>
        </p:txBody>
      </p:sp>
      <p:sp>
        <p:nvSpPr>
          <p:cNvPr id="18" name="TextBox 18"/>
          <p:cNvSpPr txBox="1"/>
          <p:nvPr/>
        </p:nvSpPr>
        <p:spPr>
          <a:xfrm>
            <a:off x="10948380" y="6674335"/>
            <a:ext cx="3519695" cy="2595262"/>
          </a:xfrm>
          <a:prstGeom prst="rect">
            <a:avLst/>
          </a:prstGeom>
        </p:spPr>
        <p:txBody>
          <a:bodyPr lIns="0" tIns="0" rIns="0" bIns="0" rtlCol="0" anchor="t">
            <a:spAutoFit/>
          </a:bodyPr>
          <a:lstStyle/>
          <a:p>
            <a:pPr algn="ctr">
              <a:lnSpc>
                <a:spcPts val="4049"/>
              </a:lnSpc>
            </a:pPr>
            <a:r>
              <a:rPr lang="en-US" sz="4950" spc="174" dirty="0">
                <a:solidFill>
                  <a:srgbClr val="FFFFFF"/>
                </a:solidFill>
                <a:latin typeface="Glacial Indifference"/>
              </a:rPr>
              <a:t>Doing homework in the community lounge</a:t>
            </a:r>
          </a:p>
        </p:txBody>
      </p:sp>
      <p:sp>
        <p:nvSpPr>
          <p:cNvPr id="19" name="TextBox 18">
            <a:extLst>
              <a:ext uri="{FF2B5EF4-FFF2-40B4-BE49-F238E27FC236}">
                <a16:creationId xmlns:a16="http://schemas.microsoft.com/office/drawing/2014/main" id="{26B66393-D3B3-80F1-4C6B-28B06FA770D7}"/>
              </a:ext>
            </a:extLst>
          </p:cNvPr>
          <p:cNvSpPr txBox="1"/>
          <p:nvPr/>
        </p:nvSpPr>
        <p:spPr>
          <a:xfrm>
            <a:off x="15509457" y="5634522"/>
            <a:ext cx="2743199" cy="3657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41C44"/>
        </a:solidFill>
        <a:effectLst/>
      </p:bgPr>
    </p:bg>
    <p:spTree>
      <p:nvGrpSpPr>
        <p:cNvPr id="1" name=""/>
        <p:cNvGrpSpPr/>
        <p:nvPr/>
      </p:nvGrpSpPr>
      <p:grpSpPr>
        <a:xfrm>
          <a:off x="0" y="0"/>
          <a:ext cx="0" cy="0"/>
          <a:chOff x="0" y="0"/>
          <a:chExt cx="0" cy="0"/>
        </a:xfrm>
      </p:grpSpPr>
      <p:sp>
        <p:nvSpPr>
          <p:cNvPr id="2" name="AutoShape 2"/>
          <p:cNvSpPr/>
          <p:nvPr/>
        </p:nvSpPr>
        <p:spPr>
          <a:xfrm>
            <a:off x="-20" y="1009650"/>
            <a:ext cx="18288020" cy="0"/>
          </a:xfrm>
          <a:prstGeom prst="line">
            <a:avLst/>
          </a:prstGeom>
          <a:ln w="38100" cap="rnd">
            <a:solidFill>
              <a:srgbClr val="D9D9D9"/>
            </a:solidFill>
            <a:prstDash val="sysDot"/>
            <a:headEnd type="none" w="sm" len="sm"/>
            <a:tailEnd type="none" w="sm" len="sm"/>
          </a:ln>
        </p:spPr>
        <p:txBody>
          <a:bodyPr/>
          <a:lstStyle/>
          <a:p>
            <a:endParaRPr lang="en-US"/>
          </a:p>
        </p:txBody>
      </p:sp>
      <p:sp>
        <p:nvSpPr>
          <p:cNvPr id="3" name="AutoShape 3"/>
          <p:cNvSpPr/>
          <p:nvPr/>
        </p:nvSpPr>
        <p:spPr>
          <a:xfrm rot="3580">
            <a:off x="-5" y="9229725"/>
            <a:ext cx="18288030" cy="0"/>
          </a:xfrm>
          <a:prstGeom prst="line">
            <a:avLst/>
          </a:prstGeom>
          <a:ln w="38100" cap="rnd">
            <a:solidFill>
              <a:srgbClr val="D9D9D9"/>
            </a:solidFill>
            <a:prstDash val="sysDot"/>
            <a:headEnd type="none" w="sm" len="sm"/>
            <a:tailEnd type="none" w="sm" len="sm"/>
          </a:ln>
        </p:spPr>
        <p:txBody>
          <a:bodyPr/>
          <a:lstStyle/>
          <a:p>
            <a:endParaRPr lang="en-US"/>
          </a:p>
        </p:txBody>
      </p:sp>
      <p:sp>
        <p:nvSpPr>
          <p:cNvPr id="4" name="AutoShape 4"/>
          <p:cNvSpPr/>
          <p:nvPr/>
        </p:nvSpPr>
        <p:spPr>
          <a:xfrm rot="-5406366">
            <a:off x="-4143384" y="5124450"/>
            <a:ext cx="10287018" cy="0"/>
          </a:xfrm>
          <a:prstGeom prst="line">
            <a:avLst/>
          </a:prstGeom>
          <a:ln w="38100" cap="rnd">
            <a:solidFill>
              <a:srgbClr val="D9D9D9"/>
            </a:solidFill>
            <a:prstDash val="sysDot"/>
            <a:headEnd type="none" w="sm" len="sm"/>
            <a:tailEnd type="none" w="sm" len="sm"/>
          </a:ln>
        </p:spPr>
        <p:txBody>
          <a:bodyPr/>
          <a:lstStyle/>
          <a:p>
            <a:endParaRPr lang="en-US"/>
          </a:p>
        </p:txBody>
      </p:sp>
      <p:sp>
        <p:nvSpPr>
          <p:cNvPr id="5" name="AutoShape 5"/>
          <p:cNvSpPr/>
          <p:nvPr/>
        </p:nvSpPr>
        <p:spPr>
          <a:xfrm rot="-5400000">
            <a:off x="12115782" y="5124468"/>
            <a:ext cx="10287035" cy="0"/>
          </a:xfrm>
          <a:prstGeom prst="line">
            <a:avLst/>
          </a:prstGeom>
          <a:ln w="38100" cap="rnd">
            <a:solidFill>
              <a:srgbClr val="D9D9D9"/>
            </a:solidFill>
            <a:prstDash val="sysDot"/>
            <a:headEnd type="none" w="sm" len="sm"/>
            <a:tailEnd type="none" w="sm" len="sm"/>
          </a:ln>
        </p:spPr>
        <p:txBody>
          <a:bodyPr/>
          <a:lstStyle/>
          <a:p>
            <a:endParaRPr lang="en-US"/>
          </a:p>
        </p:txBody>
      </p:sp>
      <p:sp>
        <p:nvSpPr>
          <p:cNvPr id="6" name="TextBox 6"/>
          <p:cNvSpPr txBox="1"/>
          <p:nvPr/>
        </p:nvSpPr>
        <p:spPr>
          <a:xfrm>
            <a:off x="3129283" y="3612236"/>
            <a:ext cx="12029414" cy="5400517"/>
          </a:xfrm>
          <a:prstGeom prst="rect">
            <a:avLst/>
          </a:prstGeom>
        </p:spPr>
        <p:txBody>
          <a:bodyPr lIns="0" tIns="0" rIns="0" bIns="0" rtlCol="0" anchor="t">
            <a:spAutoFit/>
          </a:bodyPr>
          <a:lstStyle/>
          <a:p>
            <a:pPr algn="ctr">
              <a:lnSpc>
                <a:spcPts val="8415"/>
              </a:lnSpc>
            </a:pPr>
            <a:r>
              <a:rPr lang="en-US" sz="8850" spc="310" dirty="0">
                <a:solidFill>
                  <a:srgbClr val="FFFFFF"/>
                </a:solidFill>
                <a:latin typeface="Glacial Indifference"/>
              </a:rPr>
              <a:t>Why do you think informal touch points are</a:t>
            </a:r>
            <a:r>
              <a:rPr lang="en-US" sz="8850" spc="310" dirty="0">
                <a:solidFill>
                  <a:srgbClr val="FFFFFF"/>
                </a:solidFill>
                <a:latin typeface="Glacial Indifference Bold"/>
              </a:rPr>
              <a:t> important?</a:t>
            </a:r>
          </a:p>
          <a:p>
            <a:pPr algn="ctr">
              <a:lnSpc>
                <a:spcPts val="8415"/>
              </a:lnSpc>
            </a:pPr>
            <a:endParaRPr lang="en-US" sz="8850" spc="310" dirty="0">
              <a:solidFill>
                <a:srgbClr val="FFFFFF"/>
              </a:solidFill>
              <a:latin typeface="Glacial Indifference Bold"/>
            </a:endParaRPr>
          </a:p>
          <a:p>
            <a:pPr algn="ctr">
              <a:lnSpc>
                <a:spcPts val="8415"/>
              </a:lnSpc>
            </a:pPr>
            <a:r>
              <a:rPr lang="en-US" sz="8850" spc="310">
                <a:solidFill>
                  <a:srgbClr val="FFFFFF"/>
                </a:solidFill>
                <a:latin typeface="Glacial Indifference Bold"/>
              </a:rPr>
              <a:t>Think, Pair, Share</a:t>
            </a:r>
            <a:endParaRPr lang="en-US" sz="8850" spc="310" dirty="0">
              <a:solidFill>
                <a:srgbClr val="FFFFFF"/>
              </a:solidFill>
              <a:latin typeface="Glacial Indifference Bold"/>
            </a:endParaRPr>
          </a:p>
        </p:txBody>
      </p:sp>
      <p:grpSp>
        <p:nvGrpSpPr>
          <p:cNvPr id="7" name="Group 7"/>
          <p:cNvGrpSpPr/>
          <p:nvPr/>
        </p:nvGrpSpPr>
        <p:grpSpPr>
          <a:xfrm rot="-5400000">
            <a:off x="12301619" y="4593059"/>
            <a:ext cx="9953462" cy="767273"/>
            <a:chOff x="0" y="0"/>
            <a:chExt cx="13271283" cy="1023030"/>
          </a:xfrm>
        </p:grpSpPr>
        <p:sp>
          <p:nvSpPr>
            <p:cNvPr id="8" name="Freeform 8"/>
            <p:cNvSpPr/>
            <p:nvPr/>
          </p:nvSpPr>
          <p:spPr>
            <a:xfrm>
              <a:off x="12248252" y="0"/>
              <a:ext cx="1023030" cy="1023030"/>
            </a:xfrm>
            <a:custGeom>
              <a:avLst/>
              <a:gdLst/>
              <a:ahLst/>
              <a:cxnLst/>
              <a:rect l="l" t="t" r="r" b="b"/>
              <a:pathLst>
                <a:path w="1023030" h="1023030">
                  <a:moveTo>
                    <a:pt x="0" y="0"/>
                  </a:moveTo>
                  <a:lnTo>
                    <a:pt x="1023031" y="0"/>
                  </a:lnTo>
                  <a:lnTo>
                    <a:pt x="1023031" y="1023030"/>
                  </a:lnTo>
                  <a:lnTo>
                    <a:pt x="0" y="102303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a:off x="3106292"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0" name="Freeform 10"/>
            <p:cNvSpPr/>
            <p:nvPr/>
          </p:nvSpPr>
          <p:spPr>
            <a:xfrm>
              <a:off x="457098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1" name="Freeform 11"/>
            <p:cNvSpPr/>
            <p:nvPr/>
          </p:nvSpPr>
          <p:spPr>
            <a:xfrm>
              <a:off x="7677272" y="0"/>
              <a:ext cx="1023030" cy="1023030"/>
            </a:xfrm>
            <a:custGeom>
              <a:avLst/>
              <a:gdLst/>
              <a:ahLst/>
              <a:cxnLst/>
              <a:rect l="l" t="t" r="r" b="b"/>
              <a:pathLst>
                <a:path w="1023030" h="1023030">
                  <a:moveTo>
                    <a:pt x="0" y="0"/>
                  </a:moveTo>
                  <a:lnTo>
                    <a:pt x="1023031" y="0"/>
                  </a:lnTo>
                  <a:lnTo>
                    <a:pt x="1023031" y="1023030"/>
                  </a:lnTo>
                  <a:lnTo>
                    <a:pt x="0" y="102303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2" name="Freeform 12"/>
            <p:cNvSpPr/>
            <p:nvPr/>
          </p:nvSpPr>
          <p:spPr>
            <a:xfrm>
              <a:off x="914196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3" name="Freeform 13"/>
            <p:cNvSpPr/>
            <p:nvPr/>
          </p:nvSpPr>
          <p:spPr>
            <a:xfrm>
              <a:off x="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grpSp>
    </p:spTree>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41C44"/>
        </a:solidFill>
        <a:effectLst/>
      </p:bgPr>
    </p:bg>
    <p:spTree>
      <p:nvGrpSpPr>
        <p:cNvPr id="1" name=""/>
        <p:cNvGrpSpPr/>
        <p:nvPr/>
      </p:nvGrpSpPr>
      <p:grpSpPr>
        <a:xfrm>
          <a:off x="0" y="0"/>
          <a:ext cx="0" cy="0"/>
          <a:chOff x="0" y="0"/>
          <a:chExt cx="0" cy="0"/>
        </a:xfrm>
      </p:grpSpPr>
      <p:sp>
        <p:nvSpPr>
          <p:cNvPr id="2" name="AutoShape 2"/>
          <p:cNvSpPr/>
          <p:nvPr/>
        </p:nvSpPr>
        <p:spPr>
          <a:xfrm>
            <a:off x="0" y="990600"/>
            <a:ext cx="18288020" cy="0"/>
          </a:xfrm>
          <a:prstGeom prst="line">
            <a:avLst/>
          </a:prstGeom>
          <a:ln w="38100" cap="rnd">
            <a:solidFill>
              <a:srgbClr val="D9D9D9"/>
            </a:solidFill>
            <a:prstDash val="sysDot"/>
            <a:headEnd type="none" w="sm" len="sm"/>
            <a:tailEnd type="none" w="sm" len="sm"/>
          </a:ln>
        </p:spPr>
        <p:txBody>
          <a:bodyPr/>
          <a:lstStyle/>
          <a:p>
            <a:endParaRPr lang="en-US"/>
          </a:p>
        </p:txBody>
      </p:sp>
      <p:sp>
        <p:nvSpPr>
          <p:cNvPr id="3" name="AutoShape 3"/>
          <p:cNvSpPr/>
          <p:nvPr/>
        </p:nvSpPr>
        <p:spPr>
          <a:xfrm rot="3580">
            <a:off x="-45" y="9229760"/>
            <a:ext cx="18288030" cy="0"/>
          </a:xfrm>
          <a:prstGeom prst="line">
            <a:avLst/>
          </a:prstGeom>
          <a:ln w="38100" cap="rnd">
            <a:solidFill>
              <a:srgbClr val="D9D9D9"/>
            </a:solidFill>
            <a:prstDash val="sysDot"/>
            <a:headEnd type="none" w="sm" len="sm"/>
            <a:tailEnd type="none" w="sm" len="sm"/>
          </a:ln>
        </p:spPr>
        <p:txBody>
          <a:bodyPr/>
          <a:lstStyle/>
          <a:p>
            <a:endParaRPr lang="en-US"/>
          </a:p>
        </p:txBody>
      </p:sp>
      <p:sp>
        <p:nvSpPr>
          <p:cNvPr id="4" name="AutoShape 4"/>
          <p:cNvSpPr/>
          <p:nvPr/>
        </p:nvSpPr>
        <p:spPr>
          <a:xfrm rot="-5406366">
            <a:off x="-4143424" y="5124485"/>
            <a:ext cx="10287018" cy="0"/>
          </a:xfrm>
          <a:prstGeom prst="line">
            <a:avLst/>
          </a:prstGeom>
          <a:ln w="38100" cap="rnd">
            <a:solidFill>
              <a:srgbClr val="D9D9D9"/>
            </a:solidFill>
            <a:prstDash val="sysDot"/>
            <a:headEnd type="none" w="sm" len="sm"/>
            <a:tailEnd type="none" w="sm" len="sm"/>
          </a:ln>
        </p:spPr>
        <p:txBody>
          <a:bodyPr/>
          <a:lstStyle/>
          <a:p>
            <a:endParaRPr lang="en-US"/>
          </a:p>
        </p:txBody>
      </p:sp>
      <p:sp>
        <p:nvSpPr>
          <p:cNvPr id="5" name="AutoShape 5"/>
          <p:cNvSpPr/>
          <p:nvPr/>
        </p:nvSpPr>
        <p:spPr>
          <a:xfrm rot="-5400000">
            <a:off x="12115743" y="5124503"/>
            <a:ext cx="10287035" cy="0"/>
          </a:xfrm>
          <a:prstGeom prst="line">
            <a:avLst/>
          </a:prstGeom>
          <a:ln w="38100" cap="rnd">
            <a:solidFill>
              <a:srgbClr val="D9D9D9"/>
            </a:solidFill>
            <a:prstDash val="sysDot"/>
            <a:headEnd type="none" w="sm" len="sm"/>
            <a:tailEnd type="none" w="sm" len="sm"/>
          </a:ln>
        </p:spPr>
        <p:txBody>
          <a:bodyPr/>
          <a:lstStyle/>
          <a:p>
            <a:endParaRPr lang="en-US"/>
          </a:p>
        </p:txBody>
      </p:sp>
      <p:sp>
        <p:nvSpPr>
          <p:cNvPr id="6" name="TextBox 6"/>
          <p:cNvSpPr txBox="1"/>
          <p:nvPr/>
        </p:nvSpPr>
        <p:spPr>
          <a:xfrm>
            <a:off x="4405890" y="1304383"/>
            <a:ext cx="9476220" cy="1445036"/>
          </a:xfrm>
          <a:prstGeom prst="rect">
            <a:avLst/>
          </a:prstGeom>
        </p:spPr>
        <p:txBody>
          <a:bodyPr lIns="0" tIns="0" rIns="0" bIns="0" rtlCol="0" anchor="t">
            <a:spAutoFit/>
          </a:bodyPr>
          <a:lstStyle/>
          <a:p>
            <a:pPr algn="ctr">
              <a:lnSpc>
                <a:spcPts val="11702"/>
              </a:lnSpc>
            </a:pPr>
            <a:r>
              <a:rPr lang="en-US" sz="8358" spc="292" dirty="0">
                <a:solidFill>
                  <a:srgbClr val="FFFFFF"/>
                </a:solidFill>
                <a:latin typeface="Glacial Indifference"/>
              </a:rPr>
              <a:t>Purpose</a:t>
            </a:r>
          </a:p>
        </p:txBody>
      </p:sp>
      <p:grpSp>
        <p:nvGrpSpPr>
          <p:cNvPr id="7" name="Group 7"/>
          <p:cNvGrpSpPr/>
          <p:nvPr/>
        </p:nvGrpSpPr>
        <p:grpSpPr>
          <a:xfrm>
            <a:off x="641311" y="8875335"/>
            <a:ext cx="8948443" cy="689800"/>
            <a:chOff x="0" y="0"/>
            <a:chExt cx="11931257" cy="919733"/>
          </a:xfrm>
        </p:grpSpPr>
        <p:sp>
          <p:nvSpPr>
            <p:cNvPr id="8" name="Freeform 8"/>
            <p:cNvSpPr/>
            <p:nvPr/>
          </p:nvSpPr>
          <p:spPr>
            <a:xfrm>
              <a:off x="1101152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279264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410944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Freeform 11"/>
            <p:cNvSpPr/>
            <p:nvPr/>
          </p:nvSpPr>
          <p:spPr>
            <a:xfrm>
              <a:off x="690208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2" name="Freeform 12"/>
            <p:cNvSpPr/>
            <p:nvPr/>
          </p:nvSpPr>
          <p:spPr>
            <a:xfrm>
              <a:off x="821888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3" name="Freeform 13"/>
            <p:cNvSpPr/>
            <p:nvPr/>
          </p:nvSpPr>
          <p:spPr>
            <a:xfrm>
              <a:off x="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sp>
        <p:nvSpPr>
          <p:cNvPr id="14" name="TextBox 14"/>
          <p:cNvSpPr txBox="1"/>
          <p:nvPr/>
        </p:nvSpPr>
        <p:spPr>
          <a:xfrm>
            <a:off x="1782792" y="2872670"/>
            <a:ext cx="14459300" cy="4429546"/>
          </a:xfrm>
          <a:prstGeom prst="rect">
            <a:avLst/>
          </a:prstGeom>
        </p:spPr>
        <p:txBody>
          <a:bodyPr lIns="0" tIns="0" rIns="0" bIns="0" rtlCol="0" anchor="t">
            <a:spAutoFit/>
          </a:bodyPr>
          <a:lstStyle/>
          <a:p>
            <a:pPr marL="1079500" lvl="1" indent="-539750" algn="l">
              <a:lnSpc>
                <a:spcPts val="7000"/>
              </a:lnSpc>
              <a:buFont typeface="Arial"/>
              <a:buChar char="•"/>
            </a:pPr>
            <a:r>
              <a:rPr lang="en-US" sz="5000" dirty="0">
                <a:solidFill>
                  <a:srgbClr val="FFFFFF"/>
                </a:solidFill>
                <a:latin typeface="Open Sans"/>
              </a:rPr>
              <a:t>Belonging and Inclusion</a:t>
            </a:r>
            <a:endParaRPr lang="en-US"/>
          </a:p>
          <a:p>
            <a:pPr marL="1079500" lvl="1" indent="-539750" algn="l">
              <a:lnSpc>
                <a:spcPts val="7000"/>
              </a:lnSpc>
              <a:buFont typeface="Arial"/>
              <a:buChar char="•"/>
            </a:pPr>
            <a:r>
              <a:rPr lang="en-US" sz="5000" dirty="0">
                <a:solidFill>
                  <a:srgbClr val="FFFFFF"/>
                </a:solidFill>
                <a:latin typeface="Open Sans"/>
              </a:rPr>
              <a:t>Building rapport</a:t>
            </a:r>
            <a:endParaRPr lang="en-US" sz="5000" dirty="0">
              <a:solidFill>
                <a:srgbClr val="FFFFFF"/>
              </a:solidFill>
              <a:latin typeface="Open Sans"/>
              <a:ea typeface="Open Sans"/>
              <a:cs typeface="Open Sans"/>
            </a:endParaRPr>
          </a:p>
          <a:p>
            <a:pPr marL="1079500" lvl="1" indent="-539750" algn="l">
              <a:lnSpc>
                <a:spcPts val="7000"/>
              </a:lnSpc>
              <a:buFont typeface="Arial"/>
              <a:buChar char="•"/>
            </a:pPr>
            <a:r>
              <a:rPr lang="en-US" sz="5000" dirty="0">
                <a:solidFill>
                  <a:srgbClr val="FFFFFF"/>
                </a:solidFill>
                <a:latin typeface="Open Sans"/>
              </a:rPr>
              <a:t>Create opportunities</a:t>
            </a:r>
            <a:endParaRPr lang="en-US" sz="5000" dirty="0">
              <a:solidFill>
                <a:srgbClr val="FFFFFF"/>
              </a:solidFill>
              <a:latin typeface="Open Sans"/>
              <a:ea typeface="Open Sans"/>
              <a:cs typeface="Open Sans"/>
            </a:endParaRPr>
          </a:p>
          <a:p>
            <a:pPr marL="1079500" lvl="1" indent="-539750" algn="l">
              <a:lnSpc>
                <a:spcPts val="7000"/>
              </a:lnSpc>
              <a:buFont typeface="Arial"/>
              <a:buChar char="•"/>
            </a:pPr>
            <a:r>
              <a:rPr lang="en-US" sz="5000" dirty="0">
                <a:solidFill>
                  <a:srgbClr val="FFFFFF"/>
                </a:solidFill>
                <a:latin typeface="Open Sans"/>
              </a:rPr>
              <a:t>Follow-through as community leaders</a:t>
            </a:r>
            <a:endParaRPr lang="en-US" sz="5000" dirty="0">
              <a:solidFill>
                <a:srgbClr val="FFFFFF"/>
              </a:solidFill>
              <a:latin typeface="Open Sans"/>
              <a:ea typeface="Open Sans"/>
              <a:cs typeface="Open Sans"/>
            </a:endParaRPr>
          </a:p>
          <a:p>
            <a:pPr marL="1079500" lvl="1" indent="-539750" algn="l">
              <a:lnSpc>
                <a:spcPts val="7000"/>
              </a:lnSpc>
              <a:buFont typeface="Arial"/>
              <a:buChar char="•"/>
            </a:pPr>
            <a:r>
              <a:rPr lang="en-US" sz="5000" dirty="0">
                <a:solidFill>
                  <a:srgbClr val="FFFFFF"/>
                </a:solidFill>
                <a:latin typeface="Open Sans"/>
              </a:rPr>
              <a:t>Assessing needs</a:t>
            </a:r>
            <a:endParaRPr lang="en-US" sz="5000" dirty="0">
              <a:solidFill>
                <a:srgbClr val="FFFFFF"/>
              </a:solidFill>
              <a:latin typeface="Open Sans"/>
              <a:ea typeface="Open Sans"/>
              <a:cs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41C44"/>
        </a:solidFill>
        <a:effectLst/>
      </p:bgPr>
    </p:bg>
    <p:spTree>
      <p:nvGrpSpPr>
        <p:cNvPr id="1" name=""/>
        <p:cNvGrpSpPr/>
        <p:nvPr/>
      </p:nvGrpSpPr>
      <p:grpSpPr>
        <a:xfrm>
          <a:off x="0" y="0"/>
          <a:ext cx="0" cy="0"/>
          <a:chOff x="0" y="0"/>
          <a:chExt cx="0" cy="0"/>
        </a:xfrm>
      </p:grpSpPr>
      <p:sp>
        <p:nvSpPr>
          <p:cNvPr id="2" name="AutoShape 2"/>
          <p:cNvSpPr/>
          <p:nvPr/>
        </p:nvSpPr>
        <p:spPr>
          <a:xfrm>
            <a:off x="-20" y="1009650"/>
            <a:ext cx="18288020" cy="0"/>
          </a:xfrm>
          <a:prstGeom prst="line">
            <a:avLst/>
          </a:prstGeom>
          <a:ln w="38100" cap="rnd">
            <a:solidFill>
              <a:srgbClr val="D9D9D9"/>
            </a:solidFill>
            <a:prstDash val="sysDot"/>
            <a:headEnd type="none" w="sm" len="sm"/>
            <a:tailEnd type="none" w="sm" len="sm"/>
          </a:ln>
        </p:spPr>
        <p:txBody>
          <a:bodyPr/>
          <a:lstStyle/>
          <a:p>
            <a:endParaRPr lang="en-US"/>
          </a:p>
        </p:txBody>
      </p:sp>
      <p:sp>
        <p:nvSpPr>
          <p:cNvPr id="3" name="AutoShape 3"/>
          <p:cNvSpPr/>
          <p:nvPr/>
        </p:nvSpPr>
        <p:spPr>
          <a:xfrm rot="3580">
            <a:off x="-5" y="9229725"/>
            <a:ext cx="18288030" cy="0"/>
          </a:xfrm>
          <a:prstGeom prst="line">
            <a:avLst/>
          </a:prstGeom>
          <a:ln w="38100" cap="rnd">
            <a:solidFill>
              <a:srgbClr val="D9D9D9"/>
            </a:solidFill>
            <a:prstDash val="sysDot"/>
            <a:headEnd type="none" w="sm" len="sm"/>
            <a:tailEnd type="none" w="sm" len="sm"/>
          </a:ln>
        </p:spPr>
        <p:txBody>
          <a:bodyPr/>
          <a:lstStyle/>
          <a:p>
            <a:endParaRPr lang="en-US"/>
          </a:p>
        </p:txBody>
      </p:sp>
      <p:sp>
        <p:nvSpPr>
          <p:cNvPr id="4" name="AutoShape 4"/>
          <p:cNvSpPr/>
          <p:nvPr/>
        </p:nvSpPr>
        <p:spPr>
          <a:xfrm rot="-5406366">
            <a:off x="-4143384" y="5124450"/>
            <a:ext cx="10287018" cy="0"/>
          </a:xfrm>
          <a:prstGeom prst="line">
            <a:avLst/>
          </a:prstGeom>
          <a:ln w="38100" cap="rnd">
            <a:solidFill>
              <a:srgbClr val="D9D9D9"/>
            </a:solidFill>
            <a:prstDash val="sysDot"/>
            <a:headEnd type="none" w="sm" len="sm"/>
            <a:tailEnd type="none" w="sm" len="sm"/>
          </a:ln>
        </p:spPr>
        <p:txBody>
          <a:bodyPr/>
          <a:lstStyle/>
          <a:p>
            <a:endParaRPr lang="en-US"/>
          </a:p>
        </p:txBody>
      </p:sp>
      <p:sp>
        <p:nvSpPr>
          <p:cNvPr id="5" name="AutoShape 5"/>
          <p:cNvSpPr/>
          <p:nvPr/>
        </p:nvSpPr>
        <p:spPr>
          <a:xfrm rot="-5400000">
            <a:off x="12115782" y="5124468"/>
            <a:ext cx="10287035" cy="0"/>
          </a:xfrm>
          <a:prstGeom prst="line">
            <a:avLst/>
          </a:prstGeom>
          <a:ln w="38100" cap="rnd">
            <a:solidFill>
              <a:srgbClr val="D9D9D9"/>
            </a:solidFill>
            <a:prstDash val="sysDot"/>
            <a:headEnd type="none" w="sm" len="sm"/>
            <a:tailEnd type="none" w="sm" len="sm"/>
          </a:ln>
        </p:spPr>
        <p:txBody>
          <a:bodyPr/>
          <a:lstStyle/>
          <a:p>
            <a:endParaRPr lang="en-US"/>
          </a:p>
        </p:txBody>
      </p:sp>
      <p:sp>
        <p:nvSpPr>
          <p:cNvPr id="6" name="TextBox 6"/>
          <p:cNvSpPr txBox="1"/>
          <p:nvPr/>
        </p:nvSpPr>
        <p:spPr>
          <a:xfrm>
            <a:off x="3129283" y="4145618"/>
            <a:ext cx="12029414" cy="2205314"/>
          </a:xfrm>
          <a:prstGeom prst="rect">
            <a:avLst/>
          </a:prstGeom>
        </p:spPr>
        <p:txBody>
          <a:bodyPr lIns="0" tIns="0" rIns="0" bIns="0" rtlCol="0" anchor="t">
            <a:spAutoFit/>
          </a:bodyPr>
          <a:lstStyle/>
          <a:p>
            <a:pPr algn="ctr">
              <a:lnSpc>
                <a:spcPts val="8415"/>
              </a:lnSpc>
            </a:pPr>
            <a:r>
              <a:rPr lang="en-US" sz="8858" spc="310">
                <a:solidFill>
                  <a:srgbClr val="FFFFFF"/>
                </a:solidFill>
                <a:latin typeface="Glacial Indifference"/>
              </a:rPr>
              <a:t>How do you know what your residents </a:t>
            </a:r>
            <a:r>
              <a:rPr lang="en-US" sz="8858" spc="310">
                <a:solidFill>
                  <a:srgbClr val="FFFFFF"/>
                </a:solidFill>
                <a:latin typeface="Glacial Indifference Bold"/>
              </a:rPr>
              <a:t>need</a:t>
            </a:r>
            <a:r>
              <a:rPr lang="en-US" sz="8858" spc="310">
                <a:solidFill>
                  <a:srgbClr val="FFFFFF"/>
                </a:solidFill>
                <a:latin typeface="Glacial Indifference"/>
              </a:rPr>
              <a:t>?</a:t>
            </a:r>
          </a:p>
        </p:txBody>
      </p:sp>
      <p:grpSp>
        <p:nvGrpSpPr>
          <p:cNvPr id="7" name="Group 7"/>
          <p:cNvGrpSpPr/>
          <p:nvPr/>
        </p:nvGrpSpPr>
        <p:grpSpPr>
          <a:xfrm rot="-5400000">
            <a:off x="-3976606" y="4759881"/>
            <a:ext cx="9953462" cy="767273"/>
            <a:chOff x="0" y="0"/>
            <a:chExt cx="13271283" cy="1023030"/>
          </a:xfrm>
        </p:grpSpPr>
        <p:sp>
          <p:nvSpPr>
            <p:cNvPr id="8" name="Freeform 8"/>
            <p:cNvSpPr/>
            <p:nvPr/>
          </p:nvSpPr>
          <p:spPr>
            <a:xfrm>
              <a:off x="12248252" y="0"/>
              <a:ext cx="1023030" cy="1023030"/>
            </a:xfrm>
            <a:custGeom>
              <a:avLst/>
              <a:gdLst/>
              <a:ahLst/>
              <a:cxnLst/>
              <a:rect l="l" t="t" r="r" b="b"/>
              <a:pathLst>
                <a:path w="1023030" h="1023030">
                  <a:moveTo>
                    <a:pt x="0" y="0"/>
                  </a:moveTo>
                  <a:lnTo>
                    <a:pt x="1023031" y="0"/>
                  </a:lnTo>
                  <a:lnTo>
                    <a:pt x="1023031" y="1023030"/>
                  </a:lnTo>
                  <a:lnTo>
                    <a:pt x="0" y="10230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3106292"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457098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Freeform 11"/>
            <p:cNvSpPr/>
            <p:nvPr/>
          </p:nvSpPr>
          <p:spPr>
            <a:xfrm>
              <a:off x="7677272" y="0"/>
              <a:ext cx="1023030" cy="1023030"/>
            </a:xfrm>
            <a:custGeom>
              <a:avLst/>
              <a:gdLst/>
              <a:ahLst/>
              <a:cxnLst/>
              <a:rect l="l" t="t" r="r" b="b"/>
              <a:pathLst>
                <a:path w="1023030" h="1023030">
                  <a:moveTo>
                    <a:pt x="0" y="0"/>
                  </a:moveTo>
                  <a:lnTo>
                    <a:pt x="1023031" y="0"/>
                  </a:lnTo>
                  <a:lnTo>
                    <a:pt x="1023031" y="1023030"/>
                  </a:lnTo>
                  <a:lnTo>
                    <a:pt x="0" y="102303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2" name="Freeform 12"/>
            <p:cNvSpPr/>
            <p:nvPr/>
          </p:nvSpPr>
          <p:spPr>
            <a:xfrm>
              <a:off x="914196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3" name="Freeform 13"/>
            <p:cNvSpPr/>
            <p:nvPr/>
          </p:nvSpPr>
          <p:spPr>
            <a:xfrm>
              <a:off x="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41C44"/>
        </a:solidFill>
        <a:effectLst/>
      </p:bgPr>
    </p:bg>
    <p:spTree>
      <p:nvGrpSpPr>
        <p:cNvPr id="1" name=""/>
        <p:cNvGrpSpPr/>
        <p:nvPr/>
      </p:nvGrpSpPr>
      <p:grpSpPr>
        <a:xfrm>
          <a:off x="0" y="0"/>
          <a:ext cx="0" cy="0"/>
          <a:chOff x="0" y="0"/>
          <a:chExt cx="0" cy="0"/>
        </a:xfrm>
      </p:grpSpPr>
      <p:sp>
        <p:nvSpPr>
          <p:cNvPr id="2" name="AutoShape 2"/>
          <p:cNvSpPr/>
          <p:nvPr/>
        </p:nvSpPr>
        <p:spPr>
          <a:xfrm>
            <a:off x="0" y="990600"/>
            <a:ext cx="18288020" cy="0"/>
          </a:xfrm>
          <a:prstGeom prst="line">
            <a:avLst/>
          </a:prstGeom>
          <a:ln w="38100" cap="rnd">
            <a:solidFill>
              <a:srgbClr val="D9D9D9"/>
            </a:solidFill>
            <a:prstDash val="sysDot"/>
            <a:headEnd type="none" w="sm" len="sm"/>
            <a:tailEnd type="none" w="sm" len="sm"/>
          </a:ln>
        </p:spPr>
        <p:txBody>
          <a:bodyPr/>
          <a:lstStyle/>
          <a:p>
            <a:endParaRPr lang="en-US"/>
          </a:p>
        </p:txBody>
      </p:sp>
      <p:sp>
        <p:nvSpPr>
          <p:cNvPr id="3" name="AutoShape 3"/>
          <p:cNvSpPr/>
          <p:nvPr/>
        </p:nvSpPr>
        <p:spPr>
          <a:xfrm rot="3580">
            <a:off x="-45" y="9229760"/>
            <a:ext cx="18288030" cy="0"/>
          </a:xfrm>
          <a:prstGeom prst="line">
            <a:avLst/>
          </a:prstGeom>
          <a:ln w="38100" cap="rnd">
            <a:solidFill>
              <a:srgbClr val="D9D9D9"/>
            </a:solidFill>
            <a:prstDash val="sysDot"/>
            <a:headEnd type="none" w="sm" len="sm"/>
            <a:tailEnd type="none" w="sm" len="sm"/>
          </a:ln>
        </p:spPr>
        <p:txBody>
          <a:bodyPr/>
          <a:lstStyle/>
          <a:p>
            <a:endParaRPr lang="en-US"/>
          </a:p>
        </p:txBody>
      </p:sp>
      <p:sp>
        <p:nvSpPr>
          <p:cNvPr id="4" name="AutoShape 4"/>
          <p:cNvSpPr/>
          <p:nvPr/>
        </p:nvSpPr>
        <p:spPr>
          <a:xfrm rot="-5406366">
            <a:off x="-4143424" y="5124485"/>
            <a:ext cx="10287018" cy="0"/>
          </a:xfrm>
          <a:prstGeom prst="line">
            <a:avLst/>
          </a:prstGeom>
          <a:ln w="38100" cap="rnd">
            <a:solidFill>
              <a:srgbClr val="D9D9D9"/>
            </a:solidFill>
            <a:prstDash val="sysDot"/>
            <a:headEnd type="none" w="sm" len="sm"/>
            <a:tailEnd type="none" w="sm" len="sm"/>
          </a:ln>
        </p:spPr>
        <p:txBody>
          <a:bodyPr/>
          <a:lstStyle/>
          <a:p>
            <a:endParaRPr lang="en-US"/>
          </a:p>
        </p:txBody>
      </p:sp>
      <p:sp>
        <p:nvSpPr>
          <p:cNvPr id="5" name="AutoShape 5"/>
          <p:cNvSpPr/>
          <p:nvPr/>
        </p:nvSpPr>
        <p:spPr>
          <a:xfrm rot="-5400000">
            <a:off x="12115743" y="5124503"/>
            <a:ext cx="10287035" cy="0"/>
          </a:xfrm>
          <a:prstGeom prst="line">
            <a:avLst/>
          </a:prstGeom>
          <a:ln w="38100" cap="rnd">
            <a:solidFill>
              <a:srgbClr val="D9D9D9"/>
            </a:solidFill>
            <a:prstDash val="sysDot"/>
            <a:headEnd type="none" w="sm" len="sm"/>
            <a:tailEnd type="none" w="sm" len="sm"/>
          </a:ln>
        </p:spPr>
        <p:txBody>
          <a:bodyPr/>
          <a:lstStyle/>
          <a:p>
            <a:endParaRPr lang="en-US"/>
          </a:p>
        </p:txBody>
      </p:sp>
      <p:sp>
        <p:nvSpPr>
          <p:cNvPr id="6" name="TextBox 6"/>
          <p:cNvSpPr txBox="1"/>
          <p:nvPr/>
        </p:nvSpPr>
        <p:spPr>
          <a:xfrm>
            <a:off x="4405890" y="1304383"/>
            <a:ext cx="9476220" cy="1445036"/>
          </a:xfrm>
          <a:prstGeom prst="rect">
            <a:avLst/>
          </a:prstGeom>
        </p:spPr>
        <p:txBody>
          <a:bodyPr lIns="0" tIns="0" rIns="0" bIns="0" rtlCol="0" anchor="t">
            <a:spAutoFit/>
          </a:bodyPr>
          <a:lstStyle/>
          <a:p>
            <a:pPr algn="ctr">
              <a:lnSpc>
                <a:spcPts val="11702"/>
              </a:lnSpc>
            </a:pPr>
            <a:r>
              <a:rPr lang="en-US" sz="8358" spc="292">
                <a:solidFill>
                  <a:srgbClr val="FFFFFF"/>
                </a:solidFill>
                <a:latin typeface="Glacial Indifference"/>
              </a:rPr>
              <a:t>Assessing Needs</a:t>
            </a:r>
          </a:p>
        </p:txBody>
      </p:sp>
      <p:grpSp>
        <p:nvGrpSpPr>
          <p:cNvPr id="7" name="Group 7"/>
          <p:cNvGrpSpPr/>
          <p:nvPr/>
        </p:nvGrpSpPr>
        <p:grpSpPr>
          <a:xfrm>
            <a:off x="8620061" y="683800"/>
            <a:ext cx="8948443" cy="689800"/>
            <a:chOff x="0" y="0"/>
            <a:chExt cx="11931257" cy="919733"/>
          </a:xfrm>
        </p:grpSpPr>
        <p:sp>
          <p:nvSpPr>
            <p:cNvPr id="8" name="Freeform 8"/>
            <p:cNvSpPr/>
            <p:nvPr/>
          </p:nvSpPr>
          <p:spPr>
            <a:xfrm>
              <a:off x="1101152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279264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410944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Freeform 11"/>
            <p:cNvSpPr/>
            <p:nvPr/>
          </p:nvSpPr>
          <p:spPr>
            <a:xfrm>
              <a:off x="690208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2" name="Freeform 12"/>
            <p:cNvSpPr/>
            <p:nvPr/>
          </p:nvSpPr>
          <p:spPr>
            <a:xfrm>
              <a:off x="821888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3" name="Freeform 13"/>
            <p:cNvSpPr/>
            <p:nvPr/>
          </p:nvSpPr>
          <p:spPr>
            <a:xfrm>
              <a:off x="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sp>
        <p:nvSpPr>
          <p:cNvPr id="14" name="TextBox 14"/>
          <p:cNvSpPr txBox="1"/>
          <p:nvPr/>
        </p:nvSpPr>
        <p:spPr>
          <a:xfrm>
            <a:off x="1662317" y="2800385"/>
            <a:ext cx="13372977" cy="6178550"/>
          </a:xfrm>
          <a:prstGeom prst="rect">
            <a:avLst/>
          </a:prstGeom>
        </p:spPr>
        <p:txBody>
          <a:bodyPr lIns="0" tIns="0" rIns="0" bIns="0" rtlCol="0" anchor="t">
            <a:spAutoFit/>
          </a:bodyPr>
          <a:lstStyle/>
          <a:p>
            <a:pPr marL="1079501" lvl="1" indent="-539750" algn="l">
              <a:lnSpc>
                <a:spcPts val="7000"/>
              </a:lnSpc>
              <a:buFont typeface="Arial"/>
              <a:buChar char="•"/>
            </a:pPr>
            <a:r>
              <a:rPr lang="en-US" sz="5000" dirty="0">
                <a:solidFill>
                  <a:srgbClr val="FFFFFF"/>
                </a:solidFill>
                <a:latin typeface="Open Sans"/>
              </a:rPr>
              <a:t>Regularly check-in with residents</a:t>
            </a:r>
          </a:p>
          <a:p>
            <a:pPr marL="1079501" lvl="1" indent="-539750" algn="l">
              <a:lnSpc>
                <a:spcPts val="7000"/>
              </a:lnSpc>
              <a:buFont typeface="Arial"/>
              <a:buChar char="•"/>
            </a:pPr>
            <a:r>
              <a:rPr lang="en-US" sz="5000" dirty="0">
                <a:solidFill>
                  <a:srgbClr val="FFFFFF"/>
                </a:solidFill>
                <a:latin typeface="Open Sans"/>
              </a:rPr>
              <a:t>Ask questions with intention</a:t>
            </a:r>
          </a:p>
          <a:p>
            <a:pPr marL="1079501" lvl="1" indent="-539750" algn="l">
              <a:lnSpc>
                <a:spcPts val="7000"/>
              </a:lnSpc>
              <a:buFont typeface="Arial"/>
              <a:buChar char="•"/>
            </a:pPr>
            <a:r>
              <a:rPr lang="en-US" sz="5000" dirty="0">
                <a:solidFill>
                  <a:srgbClr val="FFFFFF"/>
                </a:solidFill>
                <a:latin typeface="Open Sans"/>
              </a:rPr>
              <a:t>Pay attention to who you are or are not seeing around the hall</a:t>
            </a:r>
          </a:p>
          <a:p>
            <a:pPr marL="1079501" lvl="1" indent="-539750" algn="l">
              <a:lnSpc>
                <a:spcPts val="7000"/>
              </a:lnSpc>
              <a:buFont typeface="Arial"/>
              <a:buChar char="•"/>
            </a:pPr>
            <a:r>
              <a:rPr lang="en-US" sz="5000" dirty="0">
                <a:solidFill>
                  <a:srgbClr val="FFFFFF"/>
                </a:solidFill>
                <a:latin typeface="Open Sans"/>
              </a:rPr>
              <a:t>Follow-up on concerns or issues voiced</a:t>
            </a:r>
          </a:p>
          <a:p>
            <a:pPr marL="1079501" lvl="1" indent="-539750" algn="l">
              <a:lnSpc>
                <a:spcPts val="7000"/>
              </a:lnSpc>
              <a:buFont typeface="Arial"/>
              <a:buChar char="•"/>
            </a:pPr>
            <a:r>
              <a:rPr lang="en-US" sz="5000" dirty="0">
                <a:solidFill>
                  <a:srgbClr val="FFFFFF"/>
                </a:solidFill>
                <a:latin typeface="Open Sans"/>
              </a:rPr>
              <a:t>Communicate concerns with CD/GSA</a:t>
            </a:r>
          </a:p>
          <a:p>
            <a:pPr marL="1079501" lvl="1" indent="-539750" algn="l">
              <a:lnSpc>
                <a:spcPts val="7000"/>
              </a:lnSpc>
              <a:buFont typeface="Arial"/>
              <a:buChar char="•"/>
            </a:pPr>
            <a:r>
              <a:rPr lang="en-US" sz="5000" dirty="0">
                <a:solidFill>
                  <a:srgbClr val="FFFFFF"/>
                </a:solidFill>
                <a:latin typeface="Open Sans"/>
              </a:rPr>
              <a:t>Seek feedback from residents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41C44"/>
        </a:solidFill>
        <a:effectLst/>
      </p:bgPr>
    </p:bg>
    <p:spTree>
      <p:nvGrpSpPr>
        <p:cNvPr id="1" name=""/>
        <p:cNvGrpSpPr/>
        <p:nvPr/>
      </p:nvGrpSpPr>
      <p:grpSpPr>
        <a:xfrm>
          <a:off x="0" y="0"/>
          <a:ext cx="0" cy="0"/>
          <a:chOff x="0" y="0"/>
          <a:chExt cx="0" cy="0"/>
        </a:xfrm>
      </p:grpSpPr>
      <p:sp>
        <p:nvSpPr>
          <p:cNvPr id="2" name="AutoShape 2"/>
          <p:cNvSpPr/>
          <p:nvPr/>
        </p:nvSpPr>
        <p:spPr>
          <a:xfrm>
            <a:off x="20" y="1778932"/>
            <a:ext cx="18288020" cy="0"/>
          </a:xfrm>
          <a:prstGeom prst="line">
            <a:avLst/>
          </a:prstGeom>
          <a:ln w="38100" cap="rnd">
            <a:solidFill>
              <a:srgbClr val="D9D9D9"/>
            </a:solidFill>
            <a:prstDash val="sysDot"/>
            <a:headEnd type="none" w="sm" len="sm"/>
            <a:tailEnd type="none" w="sm" len="sm"/>
          </a:ln>
        </p:spPr>
        <p:txBody>
          <a:bodyPr/>
          <a:lstStyle/>
          <a:p>
            <a:endParaRPr lang="en-US"/>
          </a:p>
        </p:txBody>
      </p:sp>
      <p:sp>
        <p:nvSpPr>
          <p:cNvPr id="3" name="AutoShape 3"/>
          <p:cNvSpPr/>
          <p:nvPr/>
        </p:nvSpPr>
        <p:spPr>
          <a:xfrm rot="3580">
            <a:off x="-5" y="9229725"/>
            <a:ext cx="18288030" cy="0"/>
          </a:xfrm>
          <a:prstGeom prst="line">
            <a:avLst/>
          </a:prstGeom>
          <a:ln w="38100" cap="rnd">
            <a:solidFill>
              <a:srgbClr val="D9D9D9"/>
            </a:solidFill>
            <a:prstDash val="sysDot"/>
            <a:headEnd type="none" w="sm" len="sm"/>
            <a:tailEnd type="none" w="sm" len="sm"/>
          </a:ln>
        </p:spPr>
        <p:txBody>
          <a:bodyPr/>
          <a:lstStyle/>
          <a:p>
            <a:endParaRPr lang="en-US"/>
          </a:p>
        </p:txBody>
      </p:sp>
      <p:sp>
        <p:nvSpPr>
          <p:cNvPr id="4" name="AutoShape 4"/>
          <p:cNvSpPr/>
          <p:nvPr/>
        </p:nvSpPr>
        <p:spPr>
          <a:xfrm rot="-5406366">
            <a:off x="-4143384" y="5124450"/>
            <a:ext cx="10287018" cy="0"/>
          </a:xfrm>
          <a:prstGeom prst="line">
            <a:avLst/>
          </a:prstGeom>
          <a:ln w="38100" cap="rnd">
            <a:solidFill>
              <a:srgbClr val="D9D9D9"/>
            </a:solidFill>
            <a:prstDash val="sysDot"/>
            <a:headEnd type="none" w="sm" len="sm"/>
            <a:tailEnd type="none" w="sm" len="sm"/>
          </a:ln>
        </p:spPr>
        <p:txBody>
          <a:bodyPr/>
          <a:lstStyle/>
          <a:p>
            <a:endParaRPr lang="en-US"/>
          </a:p>
        </p:txBody>
      </p:sp>
      <p:sp>
        <p:nvSpPr>
          <p:cNvPr id="5" name="AutoShape 5"/>
          <p:cNvSpPr/>
          <p:nvPr/>
        </p:nvSpPr>
        <p:spPr>
          <a:xfrm rot="-5400000">
            <a:off x="12115782" y="5124468"/>
            <a:ext cx="10287035" cy="0"/>
          </a:xfrm>
          <a:prstGeom prst="line">
            <a:avLst/>
          </a:prstGeom>
          <a:ln w="38100" cap="rnd">
            <a:solidFill>
              <a:srgbClr val="D9D9D9"/>
            </a:solidFill>
            <a:prstDash val="sysDot"/>
            <a:headEnd type="none" w="sm" len="sm"/>
            <a:tailEnd type="none" w="sm" len="sm"/>
          </a:ln>
        </p:spPr>
        <p:txBody>
          <a:bodyPr/>
          <a:lstStyle/>
          <a:p>
            <a:endParaRPr lang="en-US"/>
          </a:p>
        </p:txBody>
      </p:sp>
      <p:sp>
        <p:nvSpPr>
          <p:cNvPr id="6" name="TextBox 6"/>
          <p:cNvSpPr txBox="1"/>
          <p:nvPr/>
        </p:nvSpPr>
        <p:spPr>
          <a:xfrm>
            <a:off x="3129293" y="564218"/>
            <a:ext cx="12029414" cy="1138514"/>
          </a:xfrm>
          <a:prstGeom prst="rect">
            <a:avLst/>
          </a:prstGeom>
        </p:spPr>
        <p:txBody>
          <a:bodyPr lIns="0" tIns="0" rIns="0" bIns="0" rtlCol="0" anchor="t">
            <a:spAutoFit/>
          </a:bodyPr>
          <a:lstStyle/>
          <a:p>
            <a:pPr algn="ctr">
              <a:lnSpc>
                <a:spcPts val="8415"/>
              </a:lnSpc>
            </a:pPr>
            <a:r>
              <a:rPr lang="en-US" sz="8858" spc="310">
                <a:solidFill>
                  <a:srgbClr val="FFFFFF"/>
                </a:solidFill>
                <a:latin typeface="Glacial Indifference"/>
              </a:rPr>
              <a:t>Students of Concern</a:t>
            </a:r>
          </a:p>
        </p:txBody>
      </p:sp>
      <p:grpSp>
        <p:nvGrpSpPr>
          <p:cNvPr id="7" name="Group 7"/>
          <p:cNvGrpSpPr/>
          <p:nvPr/>
        </p:nvGrpSpPr>
        <p:grpSpPr>
          <a:xfrm rot="-5400000">
            <a:off x="-3976606" y="4759881"/>
            <a:ext cx="9953462" cy="767273"/>
            <a:chOff x="0" y="0"/>
            <a:chExt cx="13271283" cy="1023030"/>
          </a:xfrm>
        </p:grpSpPr>
        <p:sp>
          <p:nvSpPr>
            <p:cNvPr id="8" name="Freeform 8"/>
            <p:cNvSpPr/>
            <p:nvPr/>
          </p:nvSpPr>
          <p:spPr>
            <a:xfrm>
              <a:off x="12248252" y="0"/>
              <a:ext cx="1023030" cy="1023030"/>
            </a:xfrm>
            <a:custGeom>
              <a:avLst/>
              <a:gdLst/>
              <a:ahLst/>
              <a:cxnLst/>
              <a:rect l="l" t="t" r="r" b="b"/>
              <a:pathLst>
                <a:path w="1023030" h="1023030">
                  <a:moveTo>
                    <a:pt x="0" y="0"/>
                  </a:moveTo>
                  <a:lnTo>
                    <a:pt x="1023031" y="0"/>
                  </a:lnTo>
                  <a:lnTo>
                    <a:pt x="1023031" y="1023030"/>
                  </a:lnTo>
                  <a:lnTo>
                    <a:pt x="0" y="102303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a:off x="3106292"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0" name="Freeform 10"/>
            <p:cNvSpPr/>
            <p:nvPr/>
          </p:nvSpPr>
          <p:spPr>
            <a:xfrm>
              <a:off x="457098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1" name="Freeform 11"/>
            <p:cNvSpPr/>
            <p:nvPr/>
          </p:nvSpPr>
          <p:spPr>
            <a:xfrm>
              <a:off x="7677272" y="0"/>
              <a:ext cx="1023030" cy="1023030"/>
            </a:xfrm>
            <a:custGeom>
              <a:avLst/>
              <a:gdLst/>
              <a:ahLst/>
              <a:cxnLst/>
              <a:rect l="l" t="t" r="r" b="b"/>
              <a:pathLst>
                <a:path w="1023030" h="1023030">
                  <a:moveTo>
                    <a:pt x="0" y="0"/>
                  </a:moveTo>
                  <a:lnTo>
                    <a:pt x="1023031" y="0"/>
                  </a:lnTo>
                  <a:lnTo>
                    <a:pt x="1023031" y="1023030"/>
                  </a:lnTo>
                  <a:lnTo>
                    <a:pt x="0" y="102303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2" name="Freeform 12"/>
            <p:cNvSpPr/>
            <p:nvPr/>
          </p:nvSpPr>
          <p:spPr>
            <a:xfrm>
              <a:off x="914196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3" name="Freeform 13"/>
            <p:cNvSpPr/>
            <p:nvPr/>
          </p:nvSpPr>
          <p:spPr>
            <a:xfrm>
              <a:off x="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grpSp>
      <p:sp>
        <p:nvSpPr>
          <p:cNvPr id="14" name="TextBox 14"/>
          <p:cNvSpPr txBox="1"/>
          <p:nvPr/>
        </p:nvSpPr>
        <p:spPr>
          <a:xfrm>
            <a:off x="1927361" y="2210117"/>
            <a:ext cx="13447958" cy="6338082"/>
          </a:xfrm>
          <a:prstGeom prst="rect">
            <a:avLst/>
          </a:prstGeom>
        </p:spPr>
        <p:txBody>
          <a:bodyPr lIns="0" tIns="0" rIns="0" bIns="0" rtlCol="0" anchor="t">
            <a:spAutoFit/>
          </a:bodyPr>
          <a:lstStyle/>
          <a:p>
            <a:pPr marL="1079500" lvl="1" indent="-539750" algn="l">
              <a:lnSpc>
                <a:spcPts val="7000"/>
              </a:lnSpc>
              <a:buFont typeface="Arial"/>
              <a:buChar char="•"/>
            </a:pPr>
            <a:r>
              <a:rPr lang="en-US" sz="5000" dirty="0">
                <a:solidFill>
                  <a:srgbClr val="FFFFFF"/>
                </a:solidFill>
                <a:latin typeface="Open Sans"/>
              </a:rPr>
              <a:t>There are a variety of concerns that may come up when engaging with residents</a:t>
            </a:r>
            <a:endParaRPr lang="en-US"/>
          </a:p>
          <a:p>
            <a:pPr marL="1079500" lvl="1" indent="-539750" algn="l">
              <a:lnSpc>
                <a:spcPts val="7000"/>
              </a:lnSpc>
              <a:buFont typeface="Arial"/>
              <a:buChar char="•"/>
            </a:pPr>
            <a:r>
              <a:rPr lang="en-US" sz="5000" dirty="0">
                <a:solidFill>
                  <a:srgbClr val="FFFFFF"/>
                </a:solidFill>
                <a:latin typeface="Open Sans"/>
              </a:rPr>
              <a:t>Examples</a:t>
            </a:r>
            <a:endParaRPr lang="en-US" sz="5000">
              <a:solidFill>
                <a:srgbClr val="FFFFFF"/>
              </a:solidFill>
              <a:latin typeface="Open Sans"/>
              <a:ea typeface="Open Sans"/>
              <a:cs typeface="Open Sans"/>
            </a:endParaRPr>
          </a:p>
          <a:p>
            <a:pPr marL="1252220" lvl="2" indent="-417195" algn="l">
              <a:lnSpc>
                <a:spcPts val="4060"/>
              </a:lnSpc>
              <a:buFont typeface="Arial"/>
              <a:buChar char="⚬"/>
            </a:pPr>
            <a:r>
              <a:rPr lang="en-US" sz="2900" dirty="0">
                <a:solidFill>
                  <a:srgbClr val="FFFFFF"/>
                </a:solidFill>
                <a:latin typeface="Open Sans"/>
              </a:rPr>
              <a:t>Homesickness</a:t>
            </a:r>
            <a:endParaRPr lang="en-US" sz="2900" dirty="0">
              <a:solidFill>
                <a:srgbClr val="FFFFFF"/>
              </a:solidFill>
              <a:latin typeface="Open Sans"/>
              <a:ea typeface="Open Sans"/>
              <a:cs typeface="Open Sans"/>
            </a:endParaRPr>
          </a:p>
          <a:p>
            <a:pPr marL="1252220" lvl="2" indent="-417195" algn="l">
              <a:lnSpc>
                <a:spcPts val="4060"/>
              </a:lnSpc>
              <a:buFont typeface="Arial"/>
              <a:buChar char="⚬"/>
            </a:pPr>
            <a:r>
              <a:rPr lang="en-US" sz="2900">
                <a:solidFill>
                  <a:srgbClr val="FFFFFF"/>
                </a:solidFill>
                <a:latin typeface="Open Sans"/>
              </a:rPr>
              <a:t>Considering transferring</a:t>
            </a:r>
            <a:endParaRPr lang="en-US" sz="2900">
              <a:solidFill>
                <a:srgbClr val="FFFFFF"/>
              </a:solidFill>
              <a:latin typeface="Open Sans"/>
              <a:ea typeface="Open Sans"/>
              <a:cs typeface="Open Sans"/>
            </a:endParaRPr>
          </a:p>
          <a:p>
            <a:pPr marL="1252220" lvl="2" indent="-417195" algn="l">
              <a:lnSpc>
                <a:spcPts val="4060"/>
              </a:lnSpc>
              <a:buFont typeface="Arial"/>
              <a:buChar char="⚬"/>
            </a:pPr>
            <a:r>
              <a:rPr lang="en-US" sz="2900" dirty="0">
                <a:solidFill>
                  <a:srgbClr val="FFFFFF"/>
                </a:solidFill>
                <a:latin typeface="Open Sans"/>
              </a:rPr>
              <a:t>Sense of belonging in general </a:t>
            </a:r>
            <a:endParaRPr lang="en-US" sz="2900" dirty="0">
              <a:solidFill>
                <a:srgbClr val="FFFFFF"/>
              </a:solidFill>
              <a:latin typeface="Open Sans"/>
              <a:ea typeface="Open Sans"/>
              <a:cs typeface="Open Sans"/>
            </a:endParaRPr>
          </a:p>
          <a:p>
            <a:pPr marL="1252220" lvl="2" indent="-417195" algn="l">
              <a:lnSpc>
                <a:spcPts val="4060"/>
              </a:lnSpc>
              <a:buFont typeface="Arial"/>
              <a:buChar char="⚬"/>
            </a:pPr>
            <a:r>
              <a:rPr lang="en-US" sz="2900" dirty="0">
                <a:solidFill>
                  <a:srgbClr val="FFFFFF"/>
                </a:solidFill>
                <a:latin typeface="Open Sans"/>
              </a:rPr>
              <a:t>Financial concerns</a:t>
            </a:r>
            <a:endParaRPr lang="en-US" sz="2900" dirty="0">
              <a:solidFill>
                <a:srgbClr val="FFFFFF"/>
              </a:solidFill>
              <a:latin typeface="Open Sans"/>
              <a:ea typeface="Open Sans"/>
              <a:cs typeface="Open Sans"/>
            </a:endParaRPr>
          </a:p>
          <a:p>
            <a:pPr marL="1252220" lvl="2" indent="-417195" algn="l">
              <a:lnSpc>
                <a:spcPts val="4060"/>
              </a:lnSpc>
              <a:buFont typeface="Arial"/>
              <a:buChar char="⚬"/>
            </a:pPr>
            <a:r>
              <a:rPr lang="en-US" sz="2900" dirty="0">
                <a:solidFill>
                  <a:srgbClr val="FFFFFF"/>
                </a:solidFill>
                <a:latin typeface="Open Sans"/>
              </a:rPr>
              <a:t>Struggling to make friends</a:t>
            </a:r>
            <a:endParaRPr lang="en-US" sz="2900" dirty="0">
              <a:solidFill>
                <a:srgbClr val="FFFFFF"/>
              </a:solidFill>
              <a:latin typeface="Open Sans"/>
              <a:ea typeface="Open Sans"/>
              <a:cs typeface="Open Sans"/>
            </a:endParaRPr>
          </a:p>
          <a:p>
            <a:pPr marL="1252220" lvl="2" indent="-417195" algn="l">
              <a:lnSpc>
                <a:spcPts val="4060"/>
              </a:lnSpc>
              <a:buFont typeface="Arial"/>
              <a:buChar char="⚬"/>
            </a:pPr>
            <a:r>
              <a:rPr lang="en-US" sz="2900" dirty="0">
                <a:solidFill>
                  <a:srgbClr val="FFFFFF"/>
                </a:solidFill>
                <a:latin typeface="Open Sans"/>
              </a:rPr>
              <a:t>Academics</a:t>
            </a:r>
            <a:endParaRPr lang="en-US" sz="2900" dirty="0">
              <a:solidFill>
                <a:srgbClr val="FFFFFF"/>
              </a:solidFill>
              <a:latin typeface="Open Sans"/>
              <a:ea typeface="Open Sans"/>
              <a:cs typeface="Open Sans"/>
            </a:endParaRPr>
          </a:p>
          <a:p>
            <a:pPr marL="1252220" lvl="2" indent="-417195" algn="l">
              <a:lnSpc>
                <a:spcPts val="4060"/>
              </a:lnSpc>
              <a:buFont typeface="Arial"/>
              <a:buChar char="⚬"/>
            </a:pPr>
            <a:r>
              <a:rPr lang="en-US" sz="2900" dirty="0">
                <a:solidFill>
                  <a:srgbClr val="FFFFFF"/>
                </a:solidFill>
                <a:latin typeface="Open Sans"/>
              </a:rPr>
              <a:t>Family </a:t>
            </a:r>
            <a:r>
              <a:rPr lang="en-US" sz="2900">
                <a:solidFill>
                  <a:srgbClr val="FFFFFF"/>
                </a:solidFill>
                <a:latin typeface="Open Sans"/>
              </a:rPr>
              <a:t>emergencies/concerns</a:t>
            </a:r>
            <a:endParaRPr lang="en-US" sz="2900">
              <a:solidFill>
                <a:srgbClr val="FFFFFF"/>
              </a:solidFill>
              <a:latin typeface="Open Sans"/>
              <a:ea typeface="Open Sans"/>
              <a:cs typeface="Open Sans"/>
            </a:endParaRPr>
          </a:p>
        </p:txBody>
      </p:sp>
    </p:spTree>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41C44"/>
        </a:solidFill>
        <a:effectLst/>
      </p:bgPr>
    </p:bg>
    <p:spTree>
      <p:nvGrpSpPr>
        <p:cNvPr id="1" name=""/>
        <p:cNvGrpSpPr/>
        <p:nvPr/>
      </p:nvGrpSpPr>
      <p:grpSpPr>
        <a:xfrm>
          <a:off x="0" y="0"/>
          <a:ext cx="0" cy="0"/>
          <a:chOff x="0" y="0"/>
          <a:chExt cx="0" cy="0"/>
        </a:xfrm>
      </p:grpSpPr>
      <p:sp>
        <p:nvSpPr>
          <p:cNvPr id="2" name="AutoShape 2"/>
          <p:cNvSpPr/>
          <p:nvPr/>
        </p:nvSpPr>
        <p:spPr>
          <a:xfrm>
            <a:off x="-20" y="1009650"/>
            <a:ext cx="18288020" cy="0"/>
          </a:xfrm>
          <a:prstGeom prst="line">
            <a:avLst/>
          </a:prstGeom>
          <a:ln w="38100" cap="rnd">
            <a:solidFill>
              <a:srgbClr val="D9D9D9"/>
            </a:solidFill>
            <a:prstDash val="sysDot"/>
            <a:headEnd type="none" w="sm" len="sm"/>
            <a:tailEnd type="none" w="sm" len="sm"/>
          </a:ln>
        </p:spPr>
        <p:txBody>
          <a:bodyPr/>
          <a:lstStyle/>
          <a:p>
            <a:endParaRPr lang="en-US"/>
          </a:p>
        </p:txBody>
      </p:sp>
      <p:sp>
        <p:nvSpPr>
          <p:cNvPr id="3" name="AutoShape 3"/>
          <p:cNvSpPr/>
          <p:nvPr/>
        </p:nvSpPr>
        <p:spPr>
          <a:xfrm rot="3580">
            <a:off x="-5" y="9229725"/>
            <a:ext cx="18288030" cy="0"/>
          </a:xfrm>
          <a:prstGeom prst="line">
            <a:avLst/>
          </a:prstGeom>
          <a:ln w="38100" cap="rnd">
            <a:solidFill>
              <a:srgbClr val="D9D9D9"/>
            </a:solidFill>
            <a:prstDash val="sysDot"/>
            <a:headEnd type="none" w="sm" len="sm"/>
            <a:tailEnd type="none" w="sm" len="sm"/>
          </a:ln>
        </p:spPr>
        <p:txBody>
          <a:bodyPr/>
          <a:lstStyle/>
          <a:p>
            <a:endParaRPr lang="en-US"/>
          </a:p>
        </p:txBody>
      </p:sp>
      <p:sp>
        <p:nvSpPr>
          <p:cNvPr id="4" name="AutoShape 4"/>
          <p:cNvSpPr/>
          <p:nvPr/>
        </p:nvSpPr>
        <p:spPr>
          <a:xfrm rot="-5406366">
            <a:off x="-4143384" y="5124450"/>
            <a:ext cx="10287018" cy="0"/>
          </a:xfrm>
          <a:prstGeom prst="line">
            <a:avLst/>
          </a:prstGeom>
          <a:ln w="38100" cap="rnd">
            <a:solidFill>
              <a:srgbClr val="D9D9D9"/>
            </a:solidFill>
            <a:prstDash val="sysDot"/>
            <a:headEnd type="none" w="sm" len="sm"/>
            <a:tailEnd type="none" w="sm" len="sm"/>
          </a:ln>
        </p:spPr>
        <p:txBody>
          <a:bodyPr/>
          <a:lstStyle/>
          <a:p>
            <a:endParaRPr lang="en-US"/>
          </a:p>
        </p:txBody>
      </p:sp>
      <p:sp>
        <p:nvSpPr>
          <p:cNvPr id="5" name="AutoShape 5"/>
          <p:cNvSpPr/>
          <p:nvPr/>
        </p:nvSpPr>
        <p:spPr>
          <a:xfrm rot="-5400000">
            <a:off x="12115782" y="5124468"/>
            <a:ext cx="10287035" cy="0"/>
          </a:xfrm>
          <a:prstGeom prst="line">
            <a:avLst/>
          </a:prstGeom>
          <a:ln w="38100" cap="rnd">
            <a:solidFill>
              <a:srgbClr val="D9D9D9"/>
            </a:solidFill>
            <a:prstDash val="sysDot"/>
            <a:headEnd type="none" w="sm" len="sm"/>
            <a:tailEnd type="none" w="sm" len="sm"/>
          </a:ln>
        </p:spPr>
        <p:txBody>
          <a:bodyPr/>
          <a:lstStyle/>
          <a:p>
            <a:endParaRPr lang="en-US"/>
          </a:p>
        </p:txBody>
      </p:sp>
      <p:sp>
        <p:nvSpPr>
          <p:cNvPr id="6" name="TextBox 6"/>
          <p:cNvSpPr txBox="1"/>
          <p:nvPr/>
        </p:nvSpPr>
        <p:spPr>
          <a:xfrm>
            <a:off x="3129283" y="4145618"/>
            <a:ext cx="12029414" cy="2205314"/>
          </a:xfrm>
          <a:prstGeom prst="rect">
            <a:avLst/>
          </a:prstGeom>
        </p:spPr>
        <p:txBody>
          <a:bodyPr lIns="0" tIns="0" rIns="0" bIns="0" rtlCol="0" anchor="t">
            <a:spAutoFit/>
          </a:bodyPr>
          <a:lstStyle/>
          <a:p>
            <a:pPr algn="ctr">
              <a:lnSpc>
                <a:spcPts val="8415"/>
              </a:lnSpc>
            </a:pPr>
            <a:r>
              <a:rPr lang="en-US" sz="8858" spc="310">
                <a:solidFill>
                  <a:srgbClr val="FFFFFF"/>
                </a:solidFill>
                <a:latin typeface="Glacial Indifference"/>
              </a:rPr>
              <a:t>What do you do with this information?</a:t>
            </a:r>
          </a:p>
        </p:txBody>
      </p:sp>
      <p:grpSp>
        <p:nvGrpSpPr>
          <p:cNvPr id="7" name="Group 7"/>
          <p:cNvGrpSpPr/>
          <p:nvPr/>
        </p:nvGrpSpPr>
        <p:grpSpPr>
          <a:xfrm rot="-5400000">
            <a:off x="-3976606" y="4759881"/>
            <a:ext cx="9953462" cy="767273"/>
            <a:chOff x="0" y="0"/>
            <a:chExt cx="13271283" cy="1023030"/>
          </a:xfrm>
        </p:grpSpPr>
        <p:sp>
          <p:nvSpPr>
            <p:cNvPr id="8" name="Freeform 8"/>
            <p:cNvSpPr/>
            <p:nvPr/>
          </p:nvSpPr>
          <p:spPr>
            <a:xfrm>
              <a:off x="12248252" y="0"/>
              <a:ext cx="1023030" cy="1023030"/>
            </a:xfrm>
            <a:custGeom>
              <a:avLst/>
              <a:gdLst/>
              <a:ahLst/>
              <a:cxnLst/>
              <a:rect l="l" t="t" r="r" b="b"/>
              <a:pathLst>
                <a:path w="1023030" h="1023030">
                  <a:moveTo>
                    <a:pt x="0" y="0"/>
                  </a:moveTo>
                  <a:lnTo>
                    <a:pt x="1023031" y="0"/>
                  </a:lnTo>
                  <a:lnTo>
                    <a:pt x="1023031" y="1023030"/>
                  </a:lnTo>
                  <a:lnTo>
                    <a:pt x="0" y="10230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3106292"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457098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Freeform 11"/>
            <p:cNvSpPr/>
            <p:nvPr/>
          </p:nvSpPr>
          <p:spPr>
            <a:xfrm>
              <a:off x="7677272" y="0"/>
              <a:ext cx="1023030" cy="1023030"/>
            </a:xfrm>
            <a:custGeom>
              <a:avLst/>
              <a:gdLst/>
              <a:ahLst/>
              <a:cxnLst/>
              <a:rect l="l" t="t" r="r" b="b"/>
              <a:pathLst>
                <a:path w="1023030" h="1023030">
                  <a:moveTo>
                    <a:pt x="0" y="0"/>
                  </a:moveTo>
                  <a:lnTo>
                    <a:pt x="1023031" y="0"/>
                  </a:lnTo>
                  <a:lnTo>
                    <a:pt x="1023031" y="1023030"/>
                  </a:lnTo>
                  <a:lnTo>
                    <a:pt x="0" y="102303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2" name="Freeform 12"/>
            <p:cNvSpPr/>
            <p:nvPr/>
          </p:nvSpPr>
          <p:spPr>
            <a:xfrm>
              <a:off x="914196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3" name="Freeform 13"/>
            <p:cNvSpPr/>
            <p:nvPr/>
          </p:nvSpPr>
          <p:spPr>
            <a:xfrm>
              <a:off x="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41C44"/>
        </a:solidFill>
        <a:effectLst/>
      </p:bgPr>
    </p:bg>
    <p:spTree>
      <p:nvGrpSpPr>
        <p:cNvPr id="1" name=""/>
        <p:cNvGrpSpPr/>
        <p:nvPr/>
      </p:nvGrpSpPr>
      <p:grpSpPr>
        <a:xfrm>
          <a:off x="0" y="0"/>
          <a:ext cx="0" cy="0"/>
          <a:chOff x="0" y="0"/>
          <a:chExt cx="0" cy="0"/>
        </a:xfrm>
      </p:grpSpPr>
      <p:sp>
        <p:nvSpPr>
          <p:cNvPr id="2" name="AutoShape 2"/>
          <p:cNvSpPr/>
          <p:nvPr/>
        </p:nvSpPr>
        <p:spPr>
          <a:xfrm>
            <a:off x="-20" y="1009650"/>
            <a:ext cx="18288020" cy="0"/>
          </a:xfrm>
          <a:prstGeom prst="line">
            <a:avLst/>
          </a:prstGeom>
          <a:ln w="38100" cap="rnd">
            <a:solidFill>
              <a:srgbClr val="D9D9D9"/>
            </a:solidFill>
            <a:prstDash val="sysDot"/>
            <a:headEnd type="none" w="sm" len="sm"/>
            <a:tailEnd type="none" w="sm" len="sm"/>
          </a:ln>
        </p:spPr>
        <p:txBody>
          <a:bodyPr/>
          <a:lstStyle/>
          <a:p>
            <a:endParaRPr lang="en-US"/>
          </a:p>
        </p:txBody>
      </p:sp>
      <p:sp>
        <p:nvSpPr>
          <p:cNvPr id="3" name="AutoShape 3"/>
          <p:cNvSpPr/>
          <p:nvPr/>
        </p:nvSpPr>
        <p:spPr>
          <a:xfrm rot="3580">
            <a:off x="-5" y="9229725"/>
            <a:ext cx="18288030" cy="0"/>
          </a:xfrm>
          <a:prstGeom prst="line">
            <a:avLst/>
          </a:prstGeom>
          <a:ln w="38100" cap="rnd">
            <a:solidFill>
              <a:srgbClr val="D9D9D9"/>
            </a:solidFill>
            <a:prstDash val="sysDot"/>
            <a:headEnd type="none" w="sm" len="sm"/>
            <a:tailEnd type="none" w="sm" len="sm"/>
          </a:ln>
        </p:spPr>
        <p:txBody>
          <a:bodyPr/>
          <a:lstStyle/>
          <a:p>
            <a:endParaRPr lang="en-US"/>
          </a:p>
        </p:txBody>
      </p:sp>
      <p:sp>
        <p:nvSpPr>
          <p:cNvPr id="4" name="AutoShape 4"/>
          <p:cNvSpPr/>
          <p:nvPr/>
        </p:nvSpPr>
        <p:spPr>
          <a:xfrm rot="-5406366">
            <a:off x="-4143384" y="5124450"/>
            <a:ext cx="10287018" cy="0"/>
          </a:xfrm>
          <a:prstGeom prst="line">
            <a:avLst/>
          </a:prstGeom>
          <a:ln w="38100" cap="rnd">
            <a:solidFill>
              <a:srgbClr val="D9D9D9"/>
            </a:solidFill>
            <a:prstDash val="sysDot"/>
            <a:headEnd type="none" w="sm" len="sm"/>
            <a:tailEnd type="none" w="sm" len="sm"/>
          </a:ln>
        </p:spPr>
        <p:txBody>
          <a:bodyPr/>
          <a:lstStyle/>
          <a:p>
            <a:endParaRPr lang="en-US"/>
          </a:p>
        </p:txBody>
      </p:sp>
      <p:sp>
        <p:nvSpPr>
          <p:cNvPr id="5" name="AutoShape 5"/>
          <p:cNvSpPr/>
          <p:nvPr/>
        </p:nvSpPr>
        <p:spPr>
          <a:xfrm rot="-5400000">
            <a:off x="12115782" y="5124468"/>
            <a:ext cx="10287035" cy="0"/>
          </a:xfrm>
          <a:prstGeom prst="line">
            <a:avLst/>
          </a:prstGeom>
          <a:ln w="38100" cap="rnd">
            <a:solidFill>
              <a:srgbClr val="D9D9D9"/>
            </a:solidFill>
            <a:prstDash val="sysDot"/>
            <a:headEnd type="none" w="sm" len="sm"/>
            <a:tailEnd type="none" w="sm" len="sm"/>
          </a:ln>
        </p:spPr>
        <p:txBody>
          <a:bodyPr/>
          <a:lstStyle/>
          <a:p>
            <a:endParaRPr lang="en-US"/>
          </a:p>
        </p:txBody>
      </p:sp>
      <p:sp>
        <p:nvSpPr>
          <p:cNvPr id="6" name="Freeform 6"/>
          <p:cNvSpPr/>
          <p:nvPr/>
        </p:nvSpPr>
        <p:spPr>
          <a:xfrm>
            <a:off x="1446341" y="3221923"/>
            <a:ext cx="15395298" cy="5998277"/>
          </a:xfrm>
          <a:custGeom>
            <a:avLst/>
            <a:gdLst/>
            <a:ahLst/>
            <a:cxnLst/>
            <a:rect l="l" t="t" r="r" b="b"/>
            <a:pathLst>
              <a:path w="15395298" h="5998277">
                <a:moveTo>
                  <a:pt x="0" y="0"/>
                </a:moveTo>
                <a:lnTo>
                  <a:pt x="15395298" y="0"/>
                </a:lnTo>
                <a:lnTo>
                  <a:pt x="15395298" y="5998277"/>
                </a:lnTo>
                <a:lnTo>
                  <a:pt x="0" y="5998277"/>
                </a:lnTo>
                <a:lnTo>
                  <a:pt x="0" y="0"/>
                </a:lnTo>
                <a:close/>
              </a:path>
            </a:pathLst>
          </a:custGeom>
          <a:blipFill>
            <a:blip r:embed="rId2"/>
            <a:stretch>
              <a:fillRect/>
            </a:stretch>
          </a:blipFill>
        </p:spPr>
        <p:txBody>
          <a:bodyPr/>
          <a:lstStyle/>
          <a:p>
            <a:endParaRPr lang="en-US"/>
          </a:p>
        </p:txBody>
      </p:sp>
      <p:grpSp>
        <p:nvGrpSpPr>
          <p:cNvPr id="7" name="Group 7"/>
          <p:cNvGrpSpPr/>
          <p:nvPr/>
        </p:nvGrpSpPr>
        <p:grpSpPr>
          <a:xfrm>
            <a:off x="625513" y="8836564"/>
            <a:ext cx="9953462" cy="767273"/>
            <a:chOff x="0" y="0"/>
            <a:chExt cx="13271283" cy="1023030"/>
          </a:xfrm>
        </p:grpSpPr>
        <p:sp>
          <p:nvSpPr>
            <p:cNvPr id="8" name="Freeform 8"/>
            <p:cNvSpPr/>
            <p:nvPr/>
          </p:nvSpPr>
          <p:spPr>
            <a:xfrm>
              <a:off x="12248252" y="0"/>
              <a:ext cx="1023030" cy="1023030"/>
            </a:xfrm>
            <a:custGeom>
              <a:avLst/>
              <a:gdLst/>
              <a:ahLst/>
              <a:cxnLst/>
              <a:rect l="l" t="t" r="r" b="b"/>
              <a:pathLst>
                <a:path w="1023030" h="1023030">
                  <a:moveTo>
                    <a:pt x="0" y="0"/>
                  </a:moveTo>
                  <a:lnTo>
                    <a:pt x="1023031" y="0"/>
                  </a:lnTo>
                  <a:lnTo>
                    <a:pt x="1023031" y="1023030"/>
                  </a:lnTo>
                  <a:lnTo>
                    <a:pt x="0" y="102303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a:off x="3106292"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0" name="Freeform 10"/>
            <p:cNvSpPr/>
            <p:nvPr/>
          </p:nvSpPr>
          <p:spPr>
            <a:xfrm>
              <a:off x="457098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1" name="Freeform 11"/>
            <p:cNvSpPr/>
            <p:nvPr/>
          </p:nvSpPr>
          <p:spPr>
            <a:xfrm>
              <a:off x="7677272" y="0"/>
              <a:ext cx="1023030" cy="1023030"/>
            </a:xfrm>
            <a:custGeom>
              <a:avLst/>
              <a:gdLst/>
              <a:ahLst/>
              <a:cxnLst/>
              <a:rect l="l" t="t" r="r" b="b"/>
              <a:pathLst>
                <a:path w="1023030" h="1023030">
                  <a:moveTo>
                    <a:pt x="0" y="0"/>
                  </a:moveTo>
                  <a:lnTo>
                    <a:pt x="1023031" y="0"/>
                  </a:lnTo>
                  <a:lnTo>
                    <a:pt x="1023031" y="1023030"/>
                  </a:lnTo>
                  <a:lnTo>
                    <a:pt x="0" y="102303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2" name="Freeform 12"/>
            <p:cNvSpPr/>
            <p:nvPr/>
          </p:nvSpPr>
          <p:spPr>
            <a:xfrm>
              <a:off x="914196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3" name="Freeform 13"/>
            <p:cNvSpPr/>
            <p:nvPr/>
          </p:nvSpPr>
          <p:spPr>
            <a:xfrm>
              <a:off x="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grpSp>
      <p:sp>
        <p:nvSpPr>
          <p:cNvPr id="14" name="Freeform 14"/>
          <p:cNvSpPr/>
          <p:nvPr/>
        </p:nvSpPr>
        <p:spPr>
          <a:xfrm rot="-10800000">
            <a:off x="2204935" y="5408447"/>
            <a:ext cx="1119952" cy="576775"/>
          </a:xfrm>
          <a:custGeom>
            <a:avLst/>
            <a:gdLst/>
            <a:ahLst/>
            <a:cxnLst/>
            <a:rect l="l" t="t" r="r" b="b"/>
            <a:pathLst>
              <a:path w="1119952" h="576775">
                <a:moveTo>
                  <a:pt x="0" y="0"/>
                </a:moveTo>
                <a:lnTo>
                  <a:pt x="1119952" y="0"/>
                </a:lnTo>
                <a:lnTo>
                  <a:pt x="1119952" y="576775"/>
                </a:lnTo>
                <a:lnTo>
                  <a:pt x="0" y="57677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US"/>
          </a:p>
        </p:txBody>
      </p:sp>
      <p:sp>
        <p:nvSpPr>
          <p:cNvPr id="15" name="TextBox 15"/>
          <p:cNvSpPr txBox="1"/>
          <p:nvPr/>
        </p:nvSpPr>
        <p:spPr>
          <a:xfrm>
            <a:off x="3129303" y="1209675"/>
            <a:ext cx="12029414" cy="1878299"/>
          </a:xfrm>
          <a:prstGeom prst="rect">
            <a:avLst/>
          </a:prstGeom>
        </p:spPr>
        <p:txBody>
          <a:bodyPr lIns="0" tIns="0" rIns="0" bIns="0" rtlCol="0" anchor="t">
            <a:spAutoFit/>
          </a:bodyPr>
          <a:lstStyle/>
          <a:p>
            <a:pPr algn="ctr">
              <a:lnSpc>
                <a:spcPts val="7181"/>
              </a:lnSpc>
            </a:pPr>
            <a:r>
              <a:rPr lang="en-US" sz="7559" spc="264">
                <a:solidFill>
                  <a:srgbClr val="FFFFFF"/>
                </a:solidFill>
                <a:latin typeface="Glacial Indifference"/>
              </a:rPr>
              <a:t>Complete an</a:t>
            </a:r>
            <a:r>
              <a:rPr lang="en-US" sz="7559" spc="264">
                <a:solidFill>
                  <a:srgbClr val="FFFFFF"/>
                </a:solidFill>
                <a:latin typeface="Glacial Indifference Bold"/>
              </a:rPr>
              <a:t> Ongoing Resident Note</a:t>
            </a:r>
          </a:p>
        </p:txBody>
      </p:sp>
      <p:sp>
        <p:nvSpPr>
          <p:cNvPr id="16" name="Freeform 16"/>
          <p:cNvSpPr/>
          <p:nvPr/>
        </p:nvSpPr>
        <p:spPr>
          <a:xfrm rot="-10800000">
            <a:off x="7616663" y="6702022"/>
            <a:ext cx="1119952" cy="576775"/>
          </a:xfrm>
          <a:custGeom>
            <a:avLst/>
            <a:gdLst/>
            <a:ahLst/>
            <a:cxnLst/>
            <a:rect l="l" t="t" r="r" b="b"/>
            <a:pathLst>
              <a:path w="1119952" h="576775">
                <a:moveTo>
                  <a:pt x="0" y="0"/>
                </a:moveTo>
                <a:lnTo>
                  <a:pt x="1119951" y="0"/>
                </a:lnTo>
                <a:lnTo>
                  <a:pt x="1119951" y="576775"/>
                </a:lnTo>
                <a:lnTo>
                  <a:pt x="0" y="57677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US"/>
          </a:p>
        </p:txBody>
      </p:sp>
      <p:sp>
        <p:nvSpPr>
          <p:cNvPr id="17" name="Freeform 17"/>
          <p:cNvSpPr/>
          <p:nvPr/>
        </p:nvSpPr>
        <p:spPr>
          <a:xfrm>
            <a:off x="7252810" y="4307578"/>
            <a:ext cx="1119952" cy="576775"/>
          </a:xfrm>
          <a:custGeom>
            <a:avLst/>
            <a:gdLst/>
            <a:ahLst/>
            <a:cxnLst/>
            <a:rect l="l" t="t" r="r" b="b"/>
            <a:pathLst>
              <a:path w="1119952" h="576775">
                <a:moveTo>
                  <a:pt x="0" y="0"/>
                </a:moveTo>
                <a:lnTo>
                  <a:pt x="1119952" y="0"/>
                </a:lnTo>
                <a:lnTo>
                  <a:pt x="1119952" y="576775"/>
                </a:lnTo>
                <a:lnTo>
                  <a:pt x="0" y="57677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41C44"/>
        </a:solidFill>
        <a:effectLst/>
      </p:bgPr>
    </p:bg>
    <p:spTree>
      <p:nvGrpSpPr>
        <p:cNvPr id="1" name=""/>
        <p:cNvGrpSpPr/>
        <p:nvPr/>
      </p:nvGrpSpPr>
      <p:grpSpPr>
        <a:xfrm>
          <a:off x="0" y="0"/>
          <a:ext cx="0" cy="0"/>
          <a:chOff x="0" y="0"/>
          <a:chExt cx="0" cy="0"/>
        </a:xfrm>
      </p:grpSpPr>
      <p:sp>
        <p:nvSpPr>
          <p:cNvPr id="2" name="AutoShape 2"/>
          <p:cNvSpPr/>
          <p:nvPr/>
        </p:nvSpPr>
        <p:spPr>
          <a:xfrm>
            <a:off x="0" y="990600"/>
            <a:ext cx="18288020" cy="0"/>
          </a:xfrm>
          <a:prstGeom prst="line">
            <a:avLst/>
          </a:prstGeom>
          <a:ln w="38100" cap="rnd">
            <a:solidFill>
              <a:srgbClr val="D9D9D9"/>
            </a:solidFill>
            <a:prstDash val="sysDot"/>
            <a:headEnd type="none" w="sm" len="sm"/>
            <a:tailEnd type="none" w="sm" len="sm"/>
          </a:ln>
        </p:spPr>
        <p:txBody>
          <a:bodyPr/>
          <a:lstStyle/>
          <a:p>
            <a:endParaRPr lang="en-US"/>
          </a:p>
        </p:txBody>
      </p:sp>
      <p:sp>
        <p:nvSpPr>
          <p:cNvPr id="3" name="AutoShape 3"/>
          <p:cNvSpPr/>
          <p:nvPr/>
        </p:nvSpPr>
        <p:spPr>
          <a:xfrm rot="3580">
            <a:off x="-45" y="9229760"/>
            <a:ext cx="18288030" cy="0"/>
          </a:xfrm>
          <a:prstGeom prst="line">
            <a:avLst/>
          </a:prstGeom>
          <a:ln w="38100" cap="rnd">
            <a:solidFill>
              <a:srgbClr val="D9D9D9"/>
            </a:solidFill>
            <a:prstDash val="sysDot"/>
            <a:headEnd type="none" w="sm" len="sm"/>
            <a:tailEnd type="none" w="sm" len="sm"/>
          </a:ln>
        </p:spPr>
        <p:txBody>
          <a:bodyPr/>
          <a:lstStyle/>
          <a:p>
            <a:endParaRPr lang="en-US"/>
          </a:p>
        </p:txBody>
      </p:sp>
      <p:sp>
        <p:nvSpPr>
          <p:cNvPr id="4" name="AutoShape 4"/>
          <p:cNvSpPr/>
          <p:nvPr/>
        </p:nvSpPr>
        <p:spPr>
          <a:xfrm rot="-5406366">
            <a:off x="-4143424" y="5124485"/>
            <a:ext cx="10287018" cy="0"/>
          </a:xfrm>
          <a:prstGeom prst="line">
            <a:avLst/>
          </a:prstGeom>
          <a:ln w="38100" cap="rnd">
            <a:solidFill>
              <a:srgbClr val="D9D9D9"/>
            </a:solidFill>
            <a:prstDash val="sysDot"/>
            <a:headEnd type="none" w="sm" len="sm"/>
            <a:tailEnd type="none" w="sm" len="sm"/>
          </a:ln>
        </p:spPr>
        <p:txBody>
          <a:bodyPr/>
          <a:lstStyle/>
          <a:p>
            <a:endParaRPr lang="en-US"/>
          </a:p>
        </p:txBody>
      </p:sp>
      <p:sp>
        <p:nvSpPr>
          <p:cNvPr id="5" name="AutoShape 5"/>
          <p:cNvSpPr/>
          <p:nvPr/>
        </p:nvSpPr>
        <p:spPr>
          <a:xfrm rot="-5400000">
            <a:off x="12115743" y="5124503"/>
            <a:ext cx="10287035" cy="0"/>
          </a:xfrm>
          <a:prstGeom prst="line">
            <a:avLst/>
          </a:prstGeom>
          <a:ln w="38100" cap="rnd">
            <a:solidFill>
              <a:srgbClr val="D9D9D9"/>
            </a:solidFill>
            <a:prstDash val="sysDot"/>
            <a:headEnd type="none" w="sm" len="sm"/>
            <a:tailEnd type="none" w="sm" len="sm"/>
          </a:ln>
        </p:spPr>
        <p:txBody>
          <a:bodyPr/>
          <a:lstStyle/>
          <a:p>
            <a:endParaRPr lang="en-US"/>
          </a:p>
        </p:txBody>
      </p:sp>
      <p:sp>
        <p:nvSpPr>
          <p:cNvPr id="6" name="TextBox 6"/>
          <p:cNvSpPr txBox="1"/>
          <p:nvPr/>
        </p:nvSpPr>
        <p:spPr>
          <a:xfrm>
            <a:off x="2815639" y="1109457"/>
            <a:ext cx="12656741" cy="1445036"/>
          </a:xfrm>
          <a:prstGeom prst="rect">
            <a:avLst/>
          </a:prstGeom>
        </p:spPr>
        <p:txBody>
          <a:bodyPr lIns="0" tIns="0" rIns="0" bIns="0" rtlCol="0" anchor="t">
            <a:spAutoFit/>
          </a:bodyPr>
          <a:lstStyle/>
          <a:p>
            <a:pPr algn="ctr">
              <a:lnSpc>
                <a:spcPts val="11702"/>
              </a:lnSpc>
            </a:pPr>
            <a:r>
              <a:rPr lang="en-US" sz="8358" spc="292">
                <a:solidFill>
                  <a:srgbClr val="FFFFFF"/>
                </a:solidFill>
                <a:latin typeface="Glacial Indifference"/>
              </a:rPr>
              <a:t>Ongoing Resident Notes</a:t>
            </a:r>
          </a:p>
        </p:txBody>
      </p:sp>
      <p:grpSp>
        <p:nvGrpSpPr>
          <p:cNvPr id="7" name="Group 7"/>
          <p:cNvGrpSpPr/>
          <p:nvPr/>
        </p:nvGrpSpPr>
        <p:grpSpPr>
          <a:xfrm>
            <a:off x="8620061" y="683800"/>
            <a:ext cx="8948443" cy="689800"/>
            <a:chOff x="0" y="0"/>
            <a:chExt cx="11931257" cy="919733"/>
          </a:xfrm>
        </p:grpSpPr>
        <p:sp>
          <p:nvSpPr>
            <p:cNvPr id="8" name="Freeform 8"/>
            <p:cNvSpPr/>
            <p:nvPr/>
          </p:nvSpPr>
          <p:spPr>
            <a:xfrm>
              <a:off x="1101152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279264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410944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Freeform 11"/>
            <p:cNvSpPr/>
            <p:nvPr/>
          </p:nvSpPr>
          <p:spPr>
            <a:xfrm>
              <a:off x="690208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2" name="Freeform 12"/>
            <p:cNvSpPr/>
            <p:nvPr/>
          </p:nvSpPr>
          <p:spPr>
            <a:xfrm>
              <a:off x="821888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3" name="Freeform 13"/>
            <p:cNvSpPr/>
            <p:nvPr/>
          </p:nvSpPr>
          <p:spPr>
            <a:xfrm>
              <a:off x="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sp>
        <p:nvSpPr>
          <p:cNvPr id="14" name="TextBox 14"/>
          <p:cNvSpPr txBox="1"/>
          <p:nvPr/>
        </p:nvSpPr>
        <p:spPr>
          <a:xfrm>
            <a:off x="1662317" y="2687843"/>
            <a:ext cx="14218993" cy="6318250"/>
          </a:xfrm>
          <a:prstGeom prst="rect">
            <a:avLst/>
          </a:prstGeom>
        </p:spPr>
        <p:txBody>
          <a:bodyPr lIns="0" tIns="0" rIns="0" bIns="0" rtlCol="0" anchor="t">
            <a:spAutoFit/>
          </a:bodyPr>
          <a:lstStyle/>
          <a:p>
            <a:pPr marL="863599" lvl="1" indent="-431800" algn="l">
              <a:lnSpc>
                <a:spcPts val="5599"/>
              </a:lnSpc>
              <a:buFont typeface="Arial"/>
              <a:buChar char="•"/>
            </a:pPr>
            <a:r>
              <a:rPr lang="en-US" sz="3999">
                <a:solidFill>
                  <a:srgbClr val="FFFFFF"/>
                </a:solidFill>
                <a:latin typeface="Open Sans"/>
              </a:rPr>
              <a:t>Resident name</a:t>
            </a:r>
          </a:p>
          <a:p>
            <a:pPr marL="863599" lvl="1" indent="-431800" algn="l">
              <a:lnSpc>
                <a:spcPts val="5599"/>
              </a:lnSpc>
              <a:buFont typeface="Arial"/>
              <a:buChar char="•"/>
            </a:pPr>
            <a:r>
              <a:rPr lang="en-US" sz="3999">
                <a:solidFill>
                  <a:srgbClr val="FFFFFF"/>
                </a:solidFill>
                <a:latin typeface="Open Sans"/>
              </a:rPr>
              <a:t>Your name</a:t>
            </a:r>
          </a:p>
          <a:p>
            <a:pPr marL="863599" lvl="1" indent="-431800" algn="l">
              <a:lnSpc>
                <a:spcPts val="5599"/>
              </a:lnSpc>
              <a:buFont typeface="Arial"/>
              <a:buChar char="•"/>
            </a:pPr>
            <a:r>
              <a:rPr lang="en-US" sz="3999">
                <a:solidFill>
                  <a:srgbClr val="FFFFFF"/>
                </a:solidFill>
                <a:latin typeface="Open Sans"/>
              </a:rPr>
              <a:t>Date of behavior</a:t>
            </a:r>
          </a:p>
          <a:p>
            <a:pPr marL="863599" lvl="1" indent="-431800" algn="l">
              <a:lnSpc>
                <a:spcPts val="5599"/>
              </a:lnSpc>
              <a:buFont typeface="Arial"/>
              <a:buChar char="•"/>
            </a:pPr>
            <a:r>
              <a:rPr lang="en-US" sz="3999">
                <a:solidFill>
                  <a:srgbClr val="FFFFFF"/>
                </a:solidFill>
                <a:latin typeface="Open Sans"/>
              </a:rPr>
              <a:t>Behaviors notes</a:t>
            </a:r>
          </a:p>
          <a:p>
            <a:pPr marL="863599" lvl="1" indent="-431800" algn="l">
              <a:lnSpc>
                <a:spcPts val="5599"/>
              </a:lnSpc>
              <a:buFont typeface="Arial"/>
              <a:buChar char="•"/>
            </a:pPr>
            <a:r>
              <a:rPr lang="en-US" sz="3999">
                <a:solidFill>
                  <a:srgbClr val="FFFFFF"/>
                </a:solidFill>
                <a:latin typeface="Open Sans"/>
              </a:rPr>
              <a:t>Concerns</a:t>
            </a:r>
          </a:p>
          <a:p>
            <a:pPr marL="863599" lvl="1" indent="-431800" algn="l">
              <a:lnSpc>
                <a:spcPts val="5599"/>
              </a:lnSpc>
              <a:buFont typeface="Arial"/>
              <a:buChar char="•"/>
            </a:pPr>
            <a:r>
              <a:rPr lang="en-US" sz="3999">
                <a:solidFill>
                  <a:srgbClr val="FFFFFF"/>
                </a:solidFill>
                <a:latin typeface="Open Sans"/>
              </a:rPr>
              <a:t>What has already happened in response?</a:t>
            </a:r>
          </a:p>
          <a:p>
            <a:pPr marL="863599" lvl="1" indent="-431800" algn="l">
              <a:lnSpc>
                <a:spcPts val="5599"/>
              </a:lnSpc>
              <a:buFont typeface="Arial"/>
              <a:buChar char="•"/>
            </a:pPr>
            <a:r>
              <a:rPr lang="en-US" sz="3999">
                <a:solidFill>
                  <a:srgbClr val="FFFFFF"/>
                </a:solidFill>
                <a:latin typeface="Open Sans"/>
              </a:rPr>
              <a:t>What offices or resources have you already referred the student to?</a:t>
            </a:r>
          </a:p>
          <a:p>
            <a:pPr marL="863599" lvl="1" indent="-431800" algn="l">
              <a:lnSpc>
                <a:spcPts val="5599"/>
              </a:lnSpc>
              <a:buFont typeface="Arial"/>
              <a:buChar char="•"/>
            </a:pPr>
            <a:r>
              <a:rPr lang="en-US" sz="3999">
                <a:solidFill>
                  <a:srgbClr val="FFFFFF"/>
                </a:solidFill>
                <a:latin typeface="Open Sans"/>
              </a:rPr>
              <a:t>What follow up/next steps do you recommend?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41C44"/>
        </a:solidFill>
        <a:effectLst/>
      </p:bgPr>
    </p:bg>
    <p:spTree>
      <p:nvGrpSpPr>
        <p:cNvPr id="1" name=""/>
        <p:cNvGrpSpPr/>
        <p:nvPr/>
      </p:nvGrpSpPr>
      <p:grpSpPr>
        <a:xfrm>
          <a:off x="0" y="0"/>
          <a:ext cx="0" cy="0"/>
          <a:chOff x="0" y="0"/>
          <a:chExt cx="0" cy="0"/>
        </a:xfrm>
      </p:grpSpPr>
      <p:sp>
        <p:nvSpPr>
          <p:cNvPr id="2" name="AutoShape 2"/>
          <p:cNvSpPr/>
          <p:nvPr/>
        </p:nvSpPr>
        <p:spPr>
          <a:xfrm>
            <a:off x="0" y="990600"/>
            <a:ext cx="18288020" cy="0"/>
          </a:xfrm>
          <a:prstGeom prst="line">
            <a:avLst/>
          </a:prstGeom>
          <a:ln w="38100" cap="rnd">
            <a:solidFill>
              <a:srgbClr val="D9D9D9"/>
            </a:solidFill>
            <a:prstDash val="sysDot"/>
            <a:headEnd type="none" w="sm" len="sm"/>
            <a:tailEnd type="none" w="sm" len="sm"/>
          </a:ln>
        </p:spPr>
        <p:txBody>
          <a:bodyPr/>
          <a:lstStyle/>
          <a:p>
            <a:endParaRPr lang="en-US"/>
          </a:p>
        </p:txBody>
      </p:sp>
      <p:sp>
        <p:nvSpPr>
          <p:cNvPr id="3" name="AutoShape 3"/>
          <p:cNvSpPr/>
          <p:nvPr/>
        </p:nvSpPr>
        <p:spPr>
          <a:xfrm rot="3580">
            <a:off x="-45" y="9229760"/>
            <a:ext cx="18288030" cy="0"/>
          </a:xfrm>
          <a:prstGeom prst="line">
            <a:avLst/>
          </a:prstGeom>
          <a:ln w="38100" cap="rnd">
            <a:solidFill>
              <a:srgbClr val="D9D9D9"/>
            </a:solidFill>
            <a:prstDash val="sysDot"/>
            <a:headEnd type="none" w="sm" len="sm"/>
            <a:tailEnd type="none" w="sm" len="sm"/>
          </a:ln>
        </p:spPr>
        <p:txBody>
          <a:bodyPr/>
          <a:lstStyle/>
          <a:p>
            <a:endParaRPr lang="en-US"/>
          </a:p>
        </p:txBody>
      </p:sp>
      <p:sp>
        <p:nvSpPr>
          <p:cNvPr id="4" name="AutoShape 4"/>
          <p:cNvSpPr/>
          <p:nvPr/>
        </p:nvSpPr>
        <p:spPr>
          <a:xfrm rot="-5406366">
            <a:off x="-4143424" y="5124485"/>
            <a:ext cx="10287018" cy="0"/>
          </a:xfrm>
          <a:prstGeom prst="line">
            <a:avLst/>
          </a:prstGeom>
          <a:ln w="38100" cap="rnd">
            <a:solidFill>
              <a:srgbClr val="D9D9D9"/>
            </a:solidFill>
            <a:prstDash val="sysDot"/>
            <a:headEnd type="none" w="sm" len="sm"/>
            <a:tailEnd type="none" w="sm" len="sm"/>
          </a:ln>
        </p:spPr>
        <p:txBody>
          <a:bodyPr/>
          <a:lstStyle/>
          <a:p>
            <a:endParaRPr lang="en-US"/>
          </a:p>
        </p:txBody>
      </p:sp>
      <p:sp>
        <p:nvSpPr>
          <p:cNvPr id="5" name="AutoShape 5"/>
          <p:cNvSpPr/>
          <p:nvPr/>
        </p:nvSpPr>
        <p:spPr>
          <a:xfrm rot="-5400000">
            <a:off x="12115743" y="5124503"/>
            <a:ext cx="10287035" cy="0"/>
          </a:xfrm>
          <a:prstGeom prst="line">
            <a:avLst/>
          </a:prstGeom>
          <a:ln w="38100" cap="rnd">
            <a:solidFill>
              <a:srgbClr val="D9D9D9"/>
            </a:solidFill>
            <a:prstDash val="sysDot"/>
            <a:headEnd type="none" w="sm" len="sm"/>
            <a:tailEnd type="none" w="sm" len="sm"/>
          </a:ln>
        </p:spPr>
        <p:txBody>
          <a:bodyPr/>
          <a:lstStyle/>
          <a:p>
            <a:endParaRPr lang="en-US"/>
          </a:p>
        </p:txBody>
      </p:sp>
      <p:sp>
        <p:nvSpPr>
          <p:cNvPr id="6" name="TextBox 6"/>
          <p:cNvSpPr txBox="1"/>
          <p:nvPr/>
        </p:nvSpPr>
        <p:spPr>
          <a:xfrm>
            <a:off x="4405890" y="1066258"/>
            <a:ext cx="9476220" cy="1445036"/>
          </a:xfrm>
          <a:prstGeom prst="rect">
            <a:avLst/>
          </a:prstGeom>
        </p:spPr>
        <p:txBody>
          <a:bodyPr lIns="0" tIns="0" rIns="0" bIns="0" rtlCol="0" anchor="t">
            <a:spAutoFit/>
          </a:bodyPr>
          <a:lstStyle/>
          <a:p>
            <a:pPr algn="ctr">
              <a:lnSpc>
                <a:spcPts val="11702"/>
              </a:lnSpc>
            </a:pPr>
            <a:r>
              <a:rPr lang="en-US" sz="8358" spc="292">
                <a:solidFill>
                  <a:srgbClr val="FFFFFF"/>
                </a:solidFill>
                <a:latin typeface="Glacial Indifference"/>
              </a:rPr>
              <a:t>Purpose</a:t>
            </a:r>
          </a:p>
        </p:txBody>
      </p:sp>
      <p:grpSp>
        <p:nvGrpSpPr>
          <p:cNvPr id="7" name="Group 7"/>
          <p:cNvGrpSpPr/>
          <p:nvPr/>
        </p:nvGrpSpPr>
        <p:grpSpPr>
          <a:xfrm>
            <a:off x="765136" y="8875335"/>
            <a:ext cx="8948443" cy="689800"/>
            <a:chOff x="0" y="0"/>
            <a:chExt cx="11931257" cy="919733"/>
          </a:xfrm>
        </p:grpSpPr>
        <p:sp>
          <p:nvSpPr>
            <p:cNvPr id="8" name="Freeform 8"/>
            <p:cNvSpPr/>
            <p:nvPr/>
          </p:nvSpPr>
          <p:spPr>
            <a:xfrm>
              <a:off x="1101152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279264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410944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Freeform 11"/>
            <p:cNvSpPr/>
            <p:nvPr/>
          </p:nvSpPr>
          <p:spPr>
            <a:xfrm>
              <a:off x="690208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2" name="Freeform 12"/>
            <p:cNvSpPr/>
            <p:nvPr/>
          </p:nvSpPr>
          <p:spPr>
            <a:xfrm>
              <a:off x="821888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3" name="Freeform 13"/>
            <p:cNvSpPr/>
            <p:nvPr/>
          </p:nvSpPr>
          <p:spPr>
            <a:xfrm>
              <a:off x="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sp>
        <p:nvSpPr>
          <p:cNvPr id="14" name="TextBox 14"/>
          <p:cNvSpPr txBox="1"/>
          <p:nvPr/>
        </p:nvSpPr>
        <p:spPr>
          <a:xfrm>
            <a:off x="1782792" y="2473194"/>
            <a:ext cx="15038219" cy="6178550"/>
          </a:xfrm>
          <a:prstGeom prst="rect">
            <a:avLst/>
          </a:prstGeom>
        </p:spPr>
        <p:txBody>
          <a:bodyPr lIns="0" tIns="0" rIns="0" bIns="0" rtlCol="0" anchor="t">
            <a:spAutoFit/>
          </a:bodyPr>
          <a:lstStyle/>
          <a:p>
            <a:pPr marL="1079501" lvl="1" indent="-539750" algn="l">
              <a:lnSpc>
                <a:spcPts val="7000"/>
              </a:lnSpc>
              <a:buFont typeface="Arial"/>
              <a:buChar char="•"/>
            </a:pPr>
            <a:r>
              <a:rPr lang="en-US" sz="5000">
                <a:solidFill>
                  <a:srgbClr val="FFFFFF"/>
                </a:solidFill>
                <a:latin typeface="Open Sans"/>
              </a:rPr>
              <a:t>Keeps your supervisor informed and they can then help provide guidance on how to move forward</a:t>
            </a:r>
          </a:p>
          <a:p>
            <a:pPr marL="1079501" lvl="1" indent="-539750" algn="l">
              <a:lnSpc>
                <a:spcPts val="7000"/>
              </a:lnSpc>
              <a:buFont typeface="Arial"/>
              <a:buChar char="•"/>
            </a:pPr>
            <a:r>
              <a:rPr lang="en-US" sz="5000">
                <a:solidFill>
                  <a:srgbClr val="FFFFFF"/>
                </a:solidFill>
                <a:latin typeface="Open Sans"/>
              </a:rPr>
              <a:t>Helps us provide individualized care to each student</a:t>
            </a:r>
          </a:p>
          <a:p>
            <a:pPr marL="1079501" lvl="1" indent="-539750" algn="l">
              <a:lnSpc>
                <a:spcPts val="7000"/>
              </a:lnSpc>
              <a:buFont typeface="Arial"/>
              <a:buChar char="•"/>
            </a:pPr>
            <a:r>
              <a:rPr lang="en-US" sz="5000">
                <a:solidFill>
                  <a:srgbClr val="FFFFFF"/>
                </a:solidFill>
                <a:latin typeface="Open Sans"/>
              </a:rPr>
              <a:t>Creates opportunities to get connected to resources in a timely manner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41C44"/>
        </a:solidFill>
        <a:effectLst/>
      </p:bgPr>
    </p:bg>
    <p:spTree>
      <p:nvGrpSpPr>
        <p:cNvPr id="1" name=""/>
        <p:cNvGrpSpPr/>
        <p:nvPr/>
      </p:nvGrpSpPr>
      <p:grpSpPr>
        <a:xfrm>
          <a:off x="0" y="0"/>
          <a:ext cx="0" cy="0"/>
          <a:chOff x="0" y="0"/>
          <a:chExt cx="0" cy="0"/>
        </a:xfrm>
      </p:grpSpPr>
      <p:sp>
        <p:nvSpPr>
          <p:cNvPr id="2" name="AutoShape 2"/>
          <p:cNvSpPr/>
          <p:nvPr/>
        </p:nvSpPr>
        <p:spPr>
          <a:xfrm>
            <a:off x="0" y="990600"/>
            <a:ext cx="18288020" cy="0"/>
          </a:xfrm>
          <a:prstGeom prst="line">
            <a:avLst/>
          </a:prstGeom>
          <a:ln w="38100" cap="rnd">
            <a:solidFill>
              <a:srgbClr val="D9D9D9"/>
            </a:solidFill>
            <a:prstDash val="sysDot"/>
            <a:headEnd type="none" w="sm" len="sm"/>
            <a:tailEnd type="none" w="sm" len="sm"/>
          </a:ln>
        </p:spPr>
        <p:txBody>
          <a:bodyPr/>
          <a:lstStyle/>
          <a:p>
            <a:endParaRPr lang="en-US"/>
          </a:p>
        </p:txBody>
      </p:sp>
      <p:sp>
        <p:nvSpPr>
          <p:cNvPr id="3" name="AutoShape 3"/>
          <p:cNvSpPr/>
          <p:nvPr/>
        </p:nvSpPr>
        <p:spPr>
          <a:xfrm rot="3580">
            <a:off x="-45" y="9229760"/>
            <a:ext cx="18288030" cy="0"/>
          </a:xfrm>
          <a:prstGeom prst="line">
            <a:avLst/>
          </a:prstGeom>
          <a:ln w="38100" cap="rnd">
            <a:solidFill>
              <a:srgbClr val="D9D9D9"/>
            </a:solidFill>
            <a:prstDash val="sysDot"/>
            <a:headEnd type="none" w="sm" len="sm"/>
            <a:tailEnd type="none" w="sm" len="sm"/>
          </a:ln>
        </p:spPr>
        <p:txBody>
          <a:bodyPr/>
          <a:lstStyle/>
          <a:p>
            <a:endParaRPr lang="en-US"/>
          </a:p>
        </p:txBody>
      </p:sp>
      <p:sp>
        <p:nvSpPr>
          <p:cNvPr id="4" name="AutoShape 4"/>
          <p:cNvSpPr/>
          <p:nvPr/>
        </p:nvSpPr>
        <p:spPr>
          <a:xfrm rot="-5406366">
            <a:off x="-4143424" y="5124485"/>
            <a:ext cx="10287018" cy="0"/>
          </a:xfrm>
          <a:prstGeom prst="line">
            <a:avLst/>
          </a:prstGeom>
          <a:ln w="38100" cap="rnd">
            <a:solidFill>
              <a:srgbClr val="D9D9D9"/>
            </a:solidFill>
            <a:prstDash val="sysDot"/>
            <a:headEnd type="none" w="sm" len="sm"/>
            <a:tailEnd type="none" w="sm" len="sm"/>
          </a:ln>
        </p:spPr>
        <p:txBody>
          <a:bodyPr/>
          <a:lstStyle/>
          <a:p>
            <a:endParaRPr lang="en-US"/>
          </a:p>
        </p:txBody>
      </p:sp>
      <p:sp>
        <p:nvSpPr>
          <p:cNvPr id="5" name="AutoShape 5"/>
          <p:cNvSpPr/>
          <p:nvPr/>
        </p:nvSpPr>
        <p:spPr>
          <a:xfrm rot="-5400000">
            <a:off x="12115743" y="5124503"/>
            <a:ext cx="10287035" cy="0"/>
          </a:xfrm>
          <a:prstGeom prst="line">
            <a:avLst/>
          </a:prstGeom>
          <a:ln w="38100" cap="rnd">
            <a:solidFill>
              <a:srgbClr val="D9D9D9"/>
            </a:solidFill>
            <a:prstDash val="sysDot"/>
            <a:headEnd type="none" w="sm" len="sm"/>
            <a:tailEnd type="none" w="sm" len="sm"/>
          </a:ln>
        </p:spPr>
        <p:txBody>
          <a:bodyPr/>
          <a:lstStyle/>
          <a:p>
            <a:endParaRPr lang="en-US"/>
          </a:p>
        </p:txBody>
      </p:sp>
      <p:sp>
        <p:nvSpPr>
          <p:cNvPr id="6" name="TextBox 6"/>
          <p:cNvSpPr txBox="1"/>
          <p:nvPr/>
        </p:nvSpPr>
        <p:spPr>
          <a:xfrm>
            <a:off x="2815639" y="1109457"/>
            <a:ext cx="12656741" cy="1445036"/>
          </a:xfrm>
          <a:prstGeom prst="rect">
            <a:avLst/>
          </a:prstGeom>
        </p:spPr>
        <p:txBody>
          <a:bodyPr lIns="0" tIns="0" rIns="0" bIns="0" rtlCol="0" anchor="t">
            <a:spAutoFit/>
          </a:bodyPr>
          <a:lstStyle/>
          <a:p>
            <a:pPr algn="ctr">
              <a:lnSpc>
                <a:spcPts val="11702"/>
              </a:lnSpc>
            </a:pPr>
            <a:r>
              <a:rPr lang="en-US" sz="8358" spc="292">
                <a:solidFill>
                  <a:srgbClr val="FFFFFF"/>
                </a:solidFill>
                <a:latin typeface="Glacial Indifference"/>
              </a:rPr>
              <a:t>Final Considerations</a:t>
            </a:r>
          </a:p>
        </p:txBody>
      </p:sp>
      <p:grpSp>
        <p:nvGrpSpPr>
          <p:cNvPr id="7" name="Group 7"/>
          <p:cNvGrpSpPr/>
          <p:nvPr/>
        </p:nvGrpSpPr>
        <p:grpSpPr>
          <a:xfrm>
            <a:off x="8620061" y="683800"/>
            <a:ext cx="8948443" cy="689800"/>
            <a:chOff x="0" y="0"/>
            <a:chExt cx="11931257" cy="919733"/>
          </a:xfrm>
        </p:grpSpPr>
        <p:sp>
          <p:nvSpPr>
            <p:cNvPr id="8" name="Freeform 8"/>
            <p:cNvSpPr/>
            <p:nvPr/>
          </p:nvSpPr>
          <p:spPr>
            <a:xfrm>
              <a:off x="1101152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279264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410944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Freeform 11"/>
            <p:cNvSpPr/>
            <p:nvPr/>
          </p:nvSpPr>
          <p:spPr>
            <a:xfrm>
              <a:off x="6902084"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2" name="Freeform 12"/>
            <p:cNvSpPr/>
            <p:nvPr/>
          </p:nvSpPr>
          <p:spPr>
            <a:xfrm>
              <a:off x="821888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3" name="Freeform 13"/>
            <p:cNvSpPr/>
            <p:nvPr/>
          </p:nvSpPr>
          <p:spPr>
            <a:xfrm>
              <a:off x="0" y="0"/>
              <a:ext cx="919733" cy="919733"/>
            </a:xfrm>
            <a:custGeom>
              <a:avLst/>
              <a:gdLst/>
              <a:ahLst/>
              <a:cxnLst/>
              <a:rect l="l" t="t" r="r" b="b"/>
              <a:pathLst>
                <a:path w="919733" h="919733">
                  <a:moveTo>
                    <a:pt x="0" y="0"/>
                  </a:moveTo>
                  <a:lnTo>
                    <a:pt x="919733" y="0"/>
                  </a:lnTo>
                  <a:lnTo>
                    <a:pt x="919733" y="919733"/>
                  </a:lnTo>
                  <a:lnTo>
                    <a:pt x="0" y="91973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sp>
        <p:nvSpPr>
          <p:cNvPr id="14" name="TextBox 14"/>
          <p:cNvSpPr txBox="1"/>
          <p:nvPr/>
        </p:nvSpPr>
        <p:spPr>
          <a:xfrm>
            <a:off x="1782792" y="2872670"/>
            <a:ext cx="14941839" cy="5292725"/>
          </a:xfrm>
          <a:prstGeom prst="rect">
            <a:avLst/>
          </a:prstGeom>
        </p:spPr>
        <p:txBody>
          <a:bodyPr lIns="0" tIns="0" rIns="0" bIns="0" rtlCol="0" anchor="t">
            <a:spAutoFit/>
          </a:bodyPr>
          <a:lstStyle/>
          <a:p>
            <a:pPr marL="1079501" lvl="1" indent="-539750" algn="l">
              <a:lnSpc>
                <a:spcPts val="7000"/>
              </a:lnSpc>
              <a:buFont typeface="Arial"/>
              <a:buChar char="•"/>
            </a:pPr>
            <a:r>
              <a:rPr lang="en-US" sz="5000">
                <a:solidFill>
                  <a:srgbClr val="FFFFFF"/>
                </a:solidFill>
                <a:latin typeface="Open Sans"/>
              </a:rPr>
              <a:t>You are a leader in the community, role model the connections you want to see</a:t>
            </a:r>
          </a:p>
          <a:p>
            <a:pPr marL="1079501" lvl="1" indent="-539750" algn="l">
              <a:lnSpc>
                <a:spcPts val="7000"/>
              </a:lnSpc>
              <a:buFont typeface="Arial"/>
              <a:buChar char="•"/>
            </a:pPr>
            <a:r>
              <a:rPr lang="en-US" sz="5000">
                <a:solidFill>
                  <a:srgbClr val="FFFFFF"/>
                </a:solidFill>
                <a:latin typeface="Open Sans"/>
              </a:rPr>
              <a:t>Curiosity shows you care</a:t>
            </a:r>
          </a:p>
          <a:p>
            <a:pPr marL="1079501" lvl="1" indent="-539750" algn="l">
              <a:lnSpc>
                <a:spcPts val="7000"/>
              </a:lnSpc>
              <a:buFont typeface="Arial"/>
              <a:buChar char="•"/>
            </a:pPr>
            <a:r>
              <a:rPr lang="en-US" sz="5000">
                <a:solidFill>
                  <a:srgbClr val="FFFFFF"/>
                </a:solidFill>
                <a:latin typeface="Open Sans"/>
              </a:rPr>
              <a:t>It is okay to set boundaries</a:t>
            </a:r>
          </a:p>
          <a:p>
            <a:pPr marL="1079501" lvl="1" indent="-539750" algn="l">
              <a:lnSpc>
                <a:spcPts val="7000"/>
              </a:lnSpc>
              <a:buFont typeface="Arial"/>
              <a:buChar char="•"/>
            </a:pPr>
            <a:r>
              <a:rPr lang="en-US" sz="5000">
                <a:solidFill>
                  <a:srgbClr val="FFFFFF"/>
                </a:solidFill>
                <a:latin typeface="Open Sans"/>
              </a:rPr>
              <a:t>You always have someone to lean on for support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41C44"/>
        </a:solidFill>
        <a:effectLst/>
      </p:bgPr>
    </p:bg>
    <p:spTree>
      <p:nvGrpSpPr>
        <p:cNvPr id="1" name=""/>
        <p:cNvGrpSpPr/>
        <p:nvPr/>
      </p:nvGrpSpPr>
      <p:grpSpPr>
        <a:xfrm>
          <a:off x="0" y="0"/>
          <a:ext cx="0" cy="0"/>
          <a:chOff x="0" y="0"/>
          <a:chExt cx="0" cy="0"/>
        </a:xfrm>
      </p:grpSpPr>
      <p:sp>
        <p:nvSpPr>
          <p:cNvPr id="2" name="AutoShape 2"/>
          <p:cNvSpPr/>
          <p:nvPr/>
        </p:nvSpPr>
        <p:spPr>
          <a:xfrm>
            <a:off x="20" y="1778932"/>
            <a:ext cx="18288020" cy="0"/>
          </a:xfrm>
          <a:prstGeom prst="line">
            <a:avLst/>
          </a:prstGeom>
          <a:ln w="38100" cap="rnd">
            <a:solidFill>
              <a:srgbClr val="D9D9D9"/>
            </a:solidFill>
            <a:prstDash val="sysDot"/>
            <a:headEnd type="none" w="sm" len="sm"/>
            <a:tailEnd type="none" w="sm" len="sm"/>
          </a:ln>
        </p:spPr>
        <p:txBody>
          <a:bodyPr/>
          <a:lstStyle/>
          <a:p>
            <a:endParaRPr lang="en-US"/>
          </a:p>
        </p:txBody>
      </p:sp>
      <p:sp>
        <p:nvSpPr>
          <p:cNvPr id="3" name="AutoShape 3"/>
          <p:cNvSpPr/>
          <p:nvPr/>
        </p:nvSpPr>
        <p:spPr>
          <a:xfrm rot="3580">
            <a:off x="-5" y="9229725"/>
            <a:ext cx="18288030" cy="0"/>
          </a:xfrm>
          <a:prstGeom prst="line">
            <a:avLst/>
          </a:prstGeom>
          <a:ln w="38100" cap="rnd">
            <a:solidFill>
              <a:srgbClr val="D9D9D9"/>
            </a:solidFill>
            <a:prstDash val="sysDot"/>
            <a:headEnd type="none" w="sm" len="sm"/>
            <a:tailEnd type="none" w="sm" len="sm"/>
          </a:ln>
        </p:spPr>
        <p:txBody>
          <a:bodyPr/>
          <a:lstStyle/>
          <a:p>
            <a:endParaRPr lang="en-US"/>
          </a:p>
        </p:txBody>
      </p:sp>
      <p:sp>
        <p:nvSpPr>
          <p:cNvPr id="4" name="AutoShape 4"/>
          <p:cNvSpPr/>
          <p:nvPr/>
        </p:nvSpPr>
        <p:spPr>
          <a:xfrm rot="-5406366">
            <a:off x="-4143384" y="5124450"/>
            <a:ext cx="10287018" cy="0"/>
          </a:xfrm>
          <a:prstGeom prst="line">
            <a:avLst/>
          </a:prstGeom>
          <a:ln w="38100" cap="rnd">
            <a:solidFill>
              <a:srgbClr val="D9D9D9"/>
            </a:solidFill>
            <a:prstDash val="sysDot"/>
            <a:headEnd type="none" w="sm" len="sm"/>
            <a:tailEnd type="none" w="sm" len="sm"/>
          </a:ln>
        </p:spPr>
        <p:txBody>
          <a:bodyPr/>
          <a:lstStyle/>
          <a:p>
            <a:endParaRPr lang="en-US"/>
          </a:p>
        </p:txBody>
      </p:sp>
      <p:sp>
        <p:nvSpPr>
          <p:cNvPr id="5" name="AutoShape 5"/>
          <p:cNvSpPr/>
          <p:nvPr/>
        </p:nvSpPr>
        <p:spPr>
          <a:xfrm rot="-5400000">
            <a:off x="12115782" y="5124468"/>
            <a:ext cx="10287035" cy="0"/>
          </a:xfrm>
          <a:prstGeom prst="line">
            <a:avLst/>
          </a:prstGeom>
          <a:ln w="38100" cap="rnd">
            <a:solidFill>
              <a:srgbClr val="D9D9D9"/>
            </a:solidFill>
            <a:prstDash val="sysDot"/>
            <a:headEnd type="none" w="sm" len="sm"/>
            <a:tailEnd type="none" w="sm" len="sm"/>
          </a:ln>
        </p:spPr>
        <p:txBody>
          <a:bodyPr/>
          <a:lstStyle/>
          <a:p>
            <a:endParaRPr lang="en-US"/>
          </a:p>
        </p:txBody>
      </p:sp>
      <p:sp>
        <p:nvSpPr>
          <p:cNvPr id="6" name="TextBox 6"/>
          <p:cNvSpPr txBox="1"/>
          <p:nvPr/>
        </p:nvSpPr>
        <p:spPr>
          <a:xfrm>
            <a:off x="3129293" y="564218"/>
            <a:ext cx="12029414" cy="1138514"/>
          </a:xfrm>
          <a:prstGeom prst="rect">
            <a:avLst/>
          </a:prstGeom>
        </p:spPr>
        <p:txBody>
          <a:bodyPr lIns="0" tIns="0" rIns="0" bIns="0" rtlCol="0" anchor="t">
            <a:spAutoFit/>
          </a:bodyPr>
          <a:lstStyle/>
          <a:p>
            <a:pPr algn="ctr">
              <a:lnSpc>
                <a:spcPts val="8415"/>
              </a:lnSpc>
            </a:pPr>
            <a:r>
              <a:rPr lang="en-US" sz="8858" spc="310">
                <a:solidFill>
                  <a:srgbClr val="FFFFFF"/>
                </a:solidFill>
                <a:latin typeface="Glacial Indifference"/>
              </a:rPr>
              <a:t>Scenario #1</a:t>
            </a:r>
          </a:p>
        </p:txBody>
      </p:sp>
      <p:grpSp>
        <p:nvGrpSpPr>
          <p:cNvPr id="7" name="Group 7"/>
          <p:cNvGrpSpPr/>
          <p:nvPr/>
        </p:nvGrpSpPr>
        <p:grpSpPr>
          <a:xfrm rot="-5400000">
            <a:off x="-3976606" y="4759881"/>
            <a:ext cx="9953462" cy="767273"/>
            <a:chOff x="0" y="0"/>
            <a:chExt cx="13271283" cy="1023030"/>
          </a:xfrm>
        </p:grpSpPr>
        <p:sp>
          <p:nvSpPr>
            <p:cNvPr id="8" name="Freeform 8"/>
            <p:cNvSpPr/>
            <p:nvPr/>
          </p:nvSpPr>
          <p:spPr>
            <a:xfrm>
              <a:off x="12248252" y="0"/>
              <a:ext cx="1023030" cy="1023030"/>
            </a:xfrm>
            <a:custGeom>
              <a:avLst/>
              <a:gdLst/>
              <a:ahLst/>
              <a:cxnLst/>
              <a:rect l="l" t="t" r="r" b="b"/>
              <a:pathLst>
                <a:path w="1023030" h="1023030">
                  <a:moveTo>
                    <a:pt x="0" y="0"/>
                  </a:moveTo>
                  <a:lnTo>
                    <a:pt x="1023031" y="0"/>
                  </a:lnTo>
                  <a:lnTo>
                    <a:pt x="1023031" y="1023030"/>
                  </a:lnTo>
                  <a:lnTo>
                    <a:pt x="0" y="10230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3106292"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457098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Freeform 11"/>
            <p:cNvSpPr/>
            <p:nvPr/>
          </p:nvSpPr>
          <p:spPr>
            <a:xfrm>
              <a:off x="7677272" y="0"/>
              <a:ext cx="1023030" cy="1023030"/>
            </a:xfrm>
            <a:custGeom>
              <a:avLst/>
              <a:gdLst/>
              <a:ahLst/>
              <a:cxnLst/>
              <a:rect l="l" t="t" r="r" b="b"/>
              <a:pathLst>
                <a:path w="1023030" h="1023030">
                  <a:moveTo>
                    <a:pt x="0" y="0"/>
                  </a:moveTo>
                  <a:lnTo>
                    <a:pt x="1023031" y="0"/>
                  </a:lnTo>
                  <a:lnTo>
                    <a:pt x="1023031" y="1023030"/>
                  </a:lnTo>
                  <a:lnTo>
                    <a:pt x="0" y="102303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2" name="Freeform 12"/>
            <p:cNvSpPr/>
            <p:nvPr/>
          </p:nvSpPr>
          <p:spPr>
            <a:xfrm>
              <a:off x="914196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3" name="Freeform 13"/>
            <p:cNvSpPr/>
            <p:nvPr/>
          </p:nvSpPr>
          <p:spPr>
            <a:xfrm>
              <a:off x="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sp>
        <p:nvSpPr>
          <p:cNvPr id="14" name="TextBox 14"/>
          <p:cNvSpPr txBox="1"/>
          <p:nvPr/>
        </p:nvSpPr>
        <p:spPr>
          <a:xfrm>
            <a:off x="1927361" y="2257742"/>
            <a:ext cx="15001151" cy="6309548"/>
          </a:xfrm>
          <a:prstGeom prst="rect">
            <a:avLst/>
          </a:prstGeom>
        </p:spPr>
        <p:txBody>
          <a:bodyPr lIns="0" tIns="0" rIns="0" bIns="0" rtlCol="0" anchor="t">
            <a:spAutoFit/>
          </a:bodyPr>
          <a:lstStyle/>
          <a:p>
            <a:pPr marL="690890" lvl="1" indent="-345445" algn="l">
              <a:lnSpc>
                <a:spcPts val="4480"/>
              </a:lnSpc>
              <a:buFont typeface="Arial"/>
              <a:buChar char="•"/>
            </a:pPr>
            <a:r>
              <a:rPr lang="en-US" sz="3200" dirty="0">
                <a:solidFill>
                  <a:srgbClr val="FFFFFF"/>
                </a:solidFill>
                <a:latin typeface="Open Sans"/>
              </a:rPr>
              <a:t>During your first 1:1 conversation with a resident they share with you that they have been struggling to find community and connection since coming to St. Thomas. Initially, they were close friends with their roommates but now they seem to just co-exist in the space together.  Their roommate frequently has friends over and they feel left out and don’t know how to find their own community. </a:t>
            </a:r>
          </a:p>
          <a:p>
            <a:pPr algn="l">
              <a:lnSpc>
                <a:spcPts val="4480"/>
              </a:lnSpc>
            </a:pPr>
            <a:endParaRPr lang="en-US" sz="3200" dirty="0">
              <a:solidFill>
                <a:srgbClr val="FFFFFF"/>
              </a:solidFill>
              <a:latin typeface="Open Sans"/>
            </a:endParaRPr>
          </a:p>
          <a:p>
            <a:pPr marL="1381781" lvl="2" indent="-460594" algn="l">
              <a:lnSpc>
                <a:spcPts val="4480"/>
              </a:lnSpc>
              <a:buFont typeface="Arial"/>
              <a:buChar char="⚬"/>
            </a:pPr>
            <a:r>
              <a:rPr lang="en-US" sz="3200" dirty="0">
                <a:solidFill>
                  <a:srgbClr val="FFFFFF"/>
                </a:solidFill>
                <a:latin typeface="Open Sans Bold"/>
              </a:rPr>
              <a:t>Where would you start?</a:t>
            </a:r>
          </a:p>
          <a:p>
            <a:pPr marL="1381781" lvl="2" indent="-460594" algn="l">
              <a:lnSpc>
                <a:spcPts val="4480"/>
              </a:lnSpc>
              <a:buFont typeface="Arial"/>
              <a:buChar char="⚬"/>
            </a:pPr>
            <a:r>
              <a:rPr lang="en-US" sz="3200" dirty="0">
                <a:solidFill>
                  <a:srgbClr val="FFFFFF"/>
                </a:solidFill>
                <a:latin typeface="Open Sans Bold"/>
              </a:rPr>
              <a:t>What would be more applicable, a formal or informal touch point?</a:t>
            </a:r>
          </a:p>
          <a:p>
            <a:pPr marL="1381781" lvl="2" indent="-460594" algn="l">
              <a:lnSpc>
                <a:spcPts val="4480"/>
              </a:lnSpc>
              <a:buFont typeface="Arial"/>
              <a:buChar char="⚬"/>
            </a:pPr>
            <a:r>
              <a:rPr lang="en-US" sz="3200" dirty="0">
                <a:solidFill>
                  <a:srgbClr val="FFFFFF"/>
                </a:solidFill>
                <a:latin typeface="Open Sans Bold"/>
              </a:rPr>
              <a:t>What would that touch point look like?</a:t>
            </a:r>
          </a:p>
          <a:p>
            <a:pPr marL="1381781" lvl="2" indent="-460594" algn="l">
              <a:lnSpc>
                <a:spcPts val="4480"/>
              </a:lnSpc>
              <a:buFont typeface="Arial"/>
              <a:buChar char="⚬"/>
            </a:pPr>
            <a:r>
              <a:rPr lang="en-US" sz="3200" dirty="0">
                <a:solidFill>
                  <a:srgbClr val="FFFFFF"/>
                </a:solidFill>
                <a:latin typeface="Open Sans Bold"/>
              </a:rPr>
              <a:t>What follow up steps would you consider taking?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41C44"/>
        </a:solidFill>
        <a:effectLst/>
      </p:bgPr>
    </p:bg>
    <p:spTree>
      <p:nvGrpSpPr>
        <p:cNvPr id="1" name=""/>
        <p:cNvGrpSpPr/>
        <p:nvPr/>
      </p:nvGrpSpPr>
      <p:grpSpPr>
        <a:xfrm>
          <a:off x="0" y="0"/>
          <a:ext cx="0" cy="0"/>
          <a:chOff x="0" y="0"/>
          <a:chExt cx="0" cy="0"/>
        </a:xfrm>
      </p:grpSpPr>
      <p:sp>
        <p:nvSpPr>
          <p:cNvPr id="2" name="AutoShape 2"/>
          <p:cNvSpPr/>
          <p:nvPr/>
        </p:nvSpPr>
        <p:spPr>
          <a:xfrm>
            <a:off x="20" y="1778932"/>
            <a:ext cx="18288020" cy="0"/>
          </a:xfrm>
          <a:prstGeom prst="line">
            <a:avLst/>
          </a:prstGeom>
          <a:ln w="38100" cap="rnd">
            <a:solidFill>
              <a:srgbClr val="D9D9D9"/>
            </a:solidFill>
            <a:prstDash val="sysDot"/>
            <a:headEnd type="none" w="sm" len="sm"/>
            <a:tailEnd type="none" w="sm" len="sm"/>
          </a:ln>
        </p:spPr>
        <p:txBody>
          <a:bodyPr/>
          <a:lstStyle/>
          <a:p>
            <a:endParaRPr lang="en-US"/>
          </a:p>
        </p:txBody>
      </p:sp>
      <p:sp>
        <p:nvSpPr>
          <p:cNvPr id="3" name="AutoShape 3"/>
          <p:cNvSpPr/>
          <p:nvPr/>
        </p:nvSpPr>
        <p:spPr>
          <a:xfrm rot="3580">
            <a:off x="-5" y="9229725"/>
            <a:ext cx="18288030" cy="0"/>
          </a:xfrm>
          <a:prstGeom prst="line">
            <a:avLst/>
          </a:prstGeom>
          <a:ln w="38100" cap="rnd">
            <a:solidFill>
              <a:srgbClr val="D9D9D9"/>
            </a:solidFill>
            <a:prstDash val="sysDot"/>
            <a:headEnd type="none" w="sm" len="sm"/>
            <a:tailEnd type="none" w="sm" len="sm"/>
          </a:ln>
        </p:spPr>
        <p:txBody>
          <a:bodyPr/>
          <a:lstStyle/>
          <a:p>
            <a:endParaRPr lang="en-US"/>
          </a:p>
        </p:txBody>
      </p:sp>
      <p:sp>
        <p:nvSpPr>
          <p:cNvPr id="4" name="AutoShape 4"/>
          <p:cNvSpPr/>
          <p:nvPr/>
        </p:nvSpPr>
        <p:spPr>
          <a:xfrm rot="-5406366">
            <a:off x="-4143384" y="5124450"/>
            <a:ext cx="10287018" cy="0"/>
          </a:xfrm>
          <a:prstGeom prst="line">
            <a:avLst/>
          </a:prstGeom>
          <a:ln w="38100" cap="rnd">
            <a:solidFill>
              <a:srgbClr val="D9D9D9"/>
            </a:solidFill>
            <a:prstDash val="sysDot"/>
            <a:headEnd type="none" w="sm" len="sm"/>
            <a:tailEnd type="none" w="sm" len="sm"/>
          </a:ln>
        </p:spPr>
        <p:txBody>
          <a:bodyPr/>
          <a:lstStyle/>
          <a:p>
            <a:endParaRPr lang="en-US"/>
          </a:p>
        </p:txBody>
      </p:sp>
      <p:sp>
        <p:nvSpPr>
          <p:cNvPr id="5" name="AutoShape 5"/>
          <p:cNvSpPr/>
          <p:nvPr/>
        </p:nvSpPr>
        <p:spPr>
          <a:xfrm rot="-5400000">
            <a:off x="12115782" y="5124468"/>
            <a:ext cx="10287035" cy="0"/>
          </a:xfrm>
          <a:prstGeom prst="line">
            <a:avLst/>
          </a:prstGeom>
          <a:ln w="38100" cap="rnd">
            <a:solidFill>
              <a:srgbClr val="D9D9D9"/>
            </a:solidFill>
            <a:prstDash val="sysDot"/>
            <a:headEnd type="none" w="sm" len="sm"/>
            <a:tailEnd type="none" w="sm" len="sm"/>
          </a:ln>
        </p:spPr>
        <p:txBody>
          <a:bodyPr/>
          <a:lstStyle/>
          <a:p>
            <a:endParaRPr lang="en-US"/>
          </a:p>
        </p:txBody>
      </p:sp>
      <p:sp>
        <p:nvSpPr>
          <p:cNvPr id="6" name="TextBox 6"/>
          <p:cNvSpPr txBox="1"/>
          <p:nvPr/>
        </p:nvSpPr>
        <p:spPr>
          <a:xfrm>
            <a:off x="3129293" y="564218"/>
            <a:ext cx="12029414" cy="1138514"/>
          </a:xfrm>
          <a:prstGeom prst="rect">
            <a:avLst/>
          </a:prstGeom>
        </p:spPr>
        <p:txBody>
          <a:bodyPr lIns="0" tIns="0" rIns="0" bIns="0" rtlCol="0" anchor="t">
            <a:spAutoFit/>
          </a:bodyPr>
          <a:lstStyle/>
          <a:p>
            <a:pPr algn="ctr">
              <a:lnSpc>
                <a:spcPts val="8415"/>
              </a:lnSpc>
            </a:pPr>
            <a:r>
              <a:rPr lang="en-US" sz="8858" spc="310">
                <a:solidFill>
                  <a:srgbClr val="FFFFFF"/>
                </a:solidFill>
                <a:latin typeface="Glacial Indifference"/>
              </a:rPr>
              <a:t>Scenario #2</a:t>
            </a:r>
          </a:p>
        </p:txBody>
      </p:sp>
      <p:grpSp>
        <p:nvGrpSpPr>
          <p:cNvPr id="7" name="Group 7"/>
          <p:cNvGrpSpPr/>
          <p:nvPr/>
        </p:nvGrpSpPr>
        <p:grpSpPr>
          <a:xfrm rot="-5400000">
            <a:off x="-3976606" y="4759881"/>
            <a:ext cx="9953462" cy="767273"/>
            <a:chOff x="0" y="0"/>
            <a:chExt cx="13271283" cy="1023030"/>
          </a:xfrm>
        </p:grpSpPr>
        <p:sp>
          <p:nvSpPr>
            <p:cNvPr id="8" name="Freeform 8"/>
            <p:cNvSpPr/>
            <p:nvPr/>
          </p:nvSpPr>
          <p:spPr>
            <a:xfrm>
              <a:off x="12248252" y="0"/>
              <a:ext cx="1023030" cy="1023030"/>
            </a:xfrm>
            <a:custGeom>
              <a:avLst/>
              <a:gdLst/>
              <a:ahLst/>
              <a:cxnLst/>
              <a:rect l="l" t="t" r="r" b="b"/>
              <a:pathLst>
                <a:path w="1023030" h="1023030">
                  <a:moveTo>
                    <a:pt x="0" y="0"/>
                  </a:moveTo>
                  <a:lnTo>
                    <a:pt x="1023031" y="0"/>
                  </a:lnTo>
                  <a:lnTo>
                    <a:pt x="1023031" y="1023030"/>
                  </a:lnTo>
                  <a:lnTo>
                    <a:pt x="0" y="102303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a:off x="3106292"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0" name="Freeform 10"/>
            <p:cNvSpPr/>
            <p:nvPr/>
          </p:nvSpPr>
          <p:spPr>
            <a:xfrm>
              <a:off x="457098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1" name="Freeform 11"/>
            <p:cNvSpPr/>
            <p:nvPr/>
          </p:nvSpPr>
          <p:spPr>
            <a:xfrm>
              <a:off x="7677272" y="0"/>
              <a:ext cx="1023030" cy="1023030"/>
            </a:xfrm>
            <a:custGeom>
              <a:avLst/>
              <a:gdLst/>
              <a:ahLst/>
              <a:cxnLst/>
              <a:rect l="l" t="t" r="r" b="b"/>
              <a:pathLst>
                <a:path w="1023030" h="1023030">
                  <a:moveTo>
                    <a:pt x="0" y="0"/>
                  </a:moveTo>
                  <a:lnTo>
                    <a:pt x="1023031" y="0"/>
                  </a:lnTo>
                  <a:lnTo>
                    <a:pt x="1023031" y="1023030"/>
                  </a:lnTo>
                  <a:lnTo>
                    <a:pt x="0" y="102303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2" name="Freeform 12"/>
            <p:cNvSpPr/>
            <p:nvPr/>
          </p:nvSpPr>
          <p:spPr>
            <a:xfrm>
              <a:off x="914196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3" name="Freeform 13"/>
            <p:cNvSpPr/>
            <p:nvPr/>
          </p:nvSpPr>
          <p:spPr>
            <a:xfrm>
              <a:off x="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grpSp>
      <p:sp>
        <p:nvSpPr>
          <p:cNvPr id="14" name="TextBox 14"/>
          <p:cNvSpPr txBox="1"/>
          <p:nvPr/>
        </p:nvSpPr>
        <p:spPr>
          <a:xfrm>
            <a:off x="1927361" y="2257742"/>
            <a:ext cx="15331939" cy="6309548"/>
          </a:xfrm>
          <a:prstGeom prst="rect">
            <a:avLst/>
          </a:prstGeom>
        </p:spPr>
        <p:txBody>
          <a:bodyPr lIns="0" tIns="0" rIns="0" bIns="0" rtlCol="0" anchor="t">
            <a:spAutoFit/>
          </a:bodyPr>
          <a:lstStyle/>
          <a:p>
            <a:pPr marL="690890" lvl="1" indent="-345445">
              <a:lnSpc>
                <a:spcPts val="4480"/>
              </a:lnSpc>
              <a:buFont typeface="Arial"/>
              <a:buChar char="•"/>
            </a:pPr>
            <a:r>
              <a:rPr lang="en-US" sz="3200" dirty="0">
                <a:solidFill>
                  <a:srgbClr val="FFFFFF"/>
                </a:solidFill>
                <a:latin typeface="Open Sans"/>
              </a:rPr>
              <a:t>Your resident continually finds you while you are on duty and overstays their welcome at the desk or in your room. They state that they were extremely involved in high school sports and really miss the friends that they had from a team. They have expressed an interest in getting involved on campus but don’t know where to start and asked if you could help them figure out the next step. </a:t>
            </a:r>
          </a:p>
          <a:p>
            <a:pPr algn="l">
              <a:lnSpc>
                <a:spcPts val="4480"/>
              </a:lnSpc>
            </a:pPr>
            <a:endParaRPr lang="en-US" sz="3200" dirty="0">
              <a:solidFill>
                <a:srgbClr val="FFFFFF"/>
              </a:solidFill>
              <a:latin typeface="Open Sans"/>
            </a:endParaRPr>
          </a:p>
          <a:p>
            <a:pPr marL="1381781" lvl="2" indent="-460594" algn="l">
              <a:lnSpc>
                <a:spcPts val="4480"/>
              </a:lnSpc>
              <a:buFont typeface="Arial"/>
              <a:buChar char="⚬"/>
            </a:pPr>
            <a:r>
              <a:rPr lang="en-US" sz="3200" dirty="0">
                <a:solidFill>
                  <a:srgbClr val="FFFFFF"/>
                </a:solidFill>
                <a:latin typeface="Open Sans Bold"/>
              </a:rPr>
              <a:t>Where would you start?</a:t>
            </a:r>
          </a:p>
          <a:p>
            <a:pPr marL="1381781" lvl="2" indent="-460594" algn="l">
              <a:lnSpc>
                <a:spcPts val="4480"/>
              </a:lnSpc>
              <a:buFont typeface="Arial"/>
              <a:buChar char="⚬"/>
            </a:pPr>
            <a:r>
              <a:rPr lang="en-US" sz="3200" dirty="0">
                <a:solidFill>
                  <a:srgbClr val="FFFFFF"/>
                </a:solidFill>
                <a:latin typeface="Open Sans Bold"/>
              </a:rPr>
              <a:t>What would be more applicable, a formal or informal touch point?</a:t>
            </a:r>
          </a:p>
          <a:p>
            <a:pPr marL="1381781" lvl="2" indent="-460594" algn="l">
              <a:lnSpc>
                <a:spcPts val="4480"/>
              </a:lnSpc>
              <a:buFont typeface="Arial"/>
              <a:buChar char="⚬"/>
            </a:pPr>
            <a:r>
              <a:rPr lang="en-US" sz="3200" dirty="0">
                <a:solidFill>
                  <a:srgbClr val="FFFFFF"/>
                </a:solidFill>
                <a:latin typeface="Open Sans Bold"/>
              </a:rPr>
              <a:t>What would that touch point look like?</a:t>
            </a:r>
          </a:p>
          <a:p>
            <a:pPr marL="1381781" lvl="2" indent="-460594" algn="l">
              <a:lnSpc>
                <a:spcPts val="4480"/>
              </a:lnSpc>
              <a:buFont typeface="Arial"/>
              <a:buChar char="⚬"/>
            </a:pPr>
            <a:r>
              <a:rPr lang="en-US" sz="3200" dirty="0">
                <a:solidFill>
                  <a:srgbClr val="FFFFFF"/>
                </a:solidFill>
                <a:latin typeface="Open Sans Bold"/>
              </a:rPr>
              <a:t>What follow up steps would you consider taking?</a:t>
            </a:r>
          </a:p>
        </p:txBody>
      </p:sp>
    </p:spTree>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241C44"/>
        </a:solidFill>
        <a:effectLst/>
      </p:bgPr>
    </p:bg>
    <p:spTree>
      <p:nvGrpSpPr>
        <p:cNvPr id="1" name=""/>
        <p:cNvGrpSpPr/>
        <p:nvPr/>
      </p:nvGrpSpPr>
      <p:grpSpPr>
        <a:xfrm>
          <a:off x="0" y="0"/>
          <a:ext cx="0" cy="0"/>
          <a:chOff x="0" y="0"/>
          <a:chExt cx="0" cy="0"/>
        </a:xfrm>
      </p:grpSpPr>
      <p:sp>
        <p:nvSpPr>
          <p:cNvPr id="2" name="AutoShape 2"/>
          <p:cNvSpPr/>
          <p:nvPr/>
        </p:nvSpPr>
        <p:spPr>
          <a:xfrm>
            <a:off x="20" y="1778932"/>
            <a:ext cx="18288020" cy="0"/>
          </a:xfrm>
          <a:prstGeom prst="line">
            <a:avLst/>
          </a:prstGeom>
          <a:ln w="38100" cap="rnd">
            <a:solidFill>
              <a:srgbClr val="D9D9D9"/>
            </a:solidFill>
            <a:prstDash val="sysDot"/>
            <a:headEnd type="none" w="sm" len="sm"/>
            <a:tailEnd type="none" w="sm" len="sm"/>
          </a:ln>
        </p:spPr>
        <p:txBody>
          <a:bodyPr/>
          <a:lstStyle/>
          <a:p>
            <a:endParaRPr lang="en-US"/>
          </a:p>
        </p:txBody>
      </p:sp>
      <p:sp>
        <p:nvSpPr>
          <p:cNvPr id="3" name="AutoShape 3"/>
          <p:cNvSpPr/>
          <p:nvPr/>
        </p:nvSpPr>
        <p:spPr>
          <a:xfrm rot="3580">
            <a:off x="-5" y="9229725"/>
            <a:ext cx="18288030" cy="0"/>
          </a:xfrm>
          <a:prstGeom prst="line">
            <a:avLst/>
          </a:prstGeom>
          <a:ln w="38100" cap="rnd">
            <a:solidFill>
              <a:srgbClr val="D9D9D9"/>
            </a:solidFill>
            <a:prstDash val="sysDot"/>
            <a:headEnd type="none" w="sm" len="sm"/>
            <a:tailEnd type="none" w="sm" len="sm"/>
          </a:ln>
        </p:spPr>
        <p:txBody>
          <a:bodyPr/>
          <a:lstStyle/>
          <a:p>
            <a:endParaRPr lang="en-US"/>
          </a:p>
        </p:txBody>
      </p:sp>
      <p:sp>
        <p:nvSpPr>
          <p:cNvPr id="4" name="AutoShape 4"/>
          <p:cNvSpPr/>
          <p:nvPr/>
        </p:nvSpPr>
        <p:spPr>
          <a:xfrm rot="-5406366">
            <a:off x="-4143384" y="5124450"/>
            <a:ext cx="10287018" cy="0"/>
          </a:xfrm>
          <a:prstGeom prst="line">
            <a:avLst/>
          </a:prstGeom>
          <a:ln w="38100" cap="rnd">
            <a:solidFill>
              <a:srgbClr val="D9D9D9"/>
            </a:solidFill>
            <a:prstDash val="sysDot"/>
            <a:headEnd type="none" w="sm" len="sm"/>
            <a:tailEnd type="none" w="sm" len="sm"/>
          </a:ln>
        </p:spPr>
        <p:txBody>
          <a:bodyPr/>
          <a:lstStyle/>
          <a:p>
            <a:endParaRPr lang="en-US"/>
          </a:p>
        </p:txBody>
      </p:sp>
      <p:sp>
        <p:nvSpPr>
          <p:cNvPr id="5" name="AutoShape 5"/>
          <p:cNvSpPr/>
          <p:nvPr/>
        </p:nvSpPr>
        <p:spPr>
          <a:xfrm rot="-5400000">
            <a:off x="12115782" y="5124468"/>
            <a:ext cx="10287035" cy="0"/>
          </a:xfrm>
          <a:prstGeom prst="line">
            <a:avLst/>
          </a:prstGeom>
          <a:ln w="38100" cap="rnd">
            <a:solidFill>
              <a:srgbClr val="D9D9D9"/>
            </a:solidFill>
            <a:prstDash val="sysDot"/>
            <a:headEnd type="none" w="sm" len="sm"/>
            <a:tailEnd type="none" w="sm" len="sm"/>
          </a:ln>
        </p:spPr>
        <p:txBody>
          <a:bodyPr/>
          <a:lstStyle/>
          <a:p>
            <a:endParaRPr lang="en-US"/>
          </a:p>
        </p:txBody>
      </p:sp>
      <p:sp>
        <p:nvSpPr>
          <p:cNvPr id="6" name="TextBox 6"/>
          <p:cNvSpPr txBox="1"/>
          <p:nvPr/>
        </p:nvSpPr>
        <p:spPr>
          <a:xfrm>
            <a:off x="3129293" y="564218"/>
            <a:ext cx="12029414" cy="1138514"/>
          </a:xfrm>
          <a:prstGeom prst="rect">
            <a:avLst/>
          </a:prstGeom>
        </p:spPr>
        <p:txBody>
          <a:bodyPr lIns="0" tIns="0" rIns="0" bIns="0" rtlCol="0" anchor="t">
            <a:spAutoFit/>
          </a:bodyPr>
          <a:lstStyle/>
          <a:p>
            <a:pPr algn="ctr">
              <a:lnSpc>
                <a:spcPts val="8415"/>
              </a:lnSpc>
            </a:pPr>
            <a:r>
              <a:rPr lang="en-US" sz="8858" spc="310">
                <a:solidFill>
                  <a:srgbClr val="FFFFFF"/>
                </a:solidFill>
                <a:latin typeface="Glacial Indifference"/>
              </a:rPr>
              <a:t>Scenario #3</a:t>
            </a:r>
          </a:p>
        </p:txBody>
      </p:sp>
      <p:grpSp>
        <p:nvGrpSpPr>
          <p:cNvPr id="7" name="Group 7"/>
          <p:cNvGrpSpPr/>
          <p:nvPr/>
        </p:nvGrpSpPr>
        <p:grpSpPr>
          <a:xfrm rot="-5400000">
            <a:off x="-3976606" y="4759881"/>
            <a:ext cx="9953462" cy="767273"/>
            <a:chOff x="0" y="0"/>
            <a:chExt cx="13271283" cy="1023030"/>
          </a:xfrm>
        </p:grpSpPr>
        <p:sp>
          <p:nvSpPr>
            <p:cNvPr id="8" name="Freeform 8"/>
            <p:cNvSpPr/>
            <p:nvPr/>
          </p:nvSpPr>
          <p:spPr>
            <a:xfrm>
              <a:off x="12248252" y="0"/>
              <a:ext cx="1023030" cy="1023030"/>
            </a:xfrm>
            <a:custGeom>
              <a:avLst/>
              <a:gdLst/>
              <a:ahLst/>
              <a:cxnLst/>
              <a:rect l="l" t="t" r="r" b="b"/>
              <a:pathLst>
                <a:path w="1023030" h="1023030">
                  <a:moveTo>
                    <a:pt x="0" y="0"/>
                  </a:moveTo>
                  <a:lnTo>
                    <a:pt x="1023031" y="0"/>
                  </a:lnTo>
                  <a:lnTo>
                    <a:pt x="1023031" y="1023030"/>
                  </a:lnTo>
                  <a:lnTo>
                    <a:pt x="0" y="102303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a:off x="3106292"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0" name="Freeform 10"/>
            <p:cNvSpPr/>
            <p:nvPr/>
          </p:nvSpPr>
          <p:spPr>
            <a:xfrm>
              <a:off x="457098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1" name="Freeform 11"/>
            <p:cNvSpPr/>
            <p:nvPr/>
          </p:nvSpPr>
          <p:spPr>
            <a:xfrm>
              <a:off x="7677272" y="0"/>
              <a:ext cx="1023030" cy="1023030"/>
            </a:xfrm>
            <a:custGeom>
              <a:avLst/>
              <a:gdLst/>
              <a:ahLst/>
              <a:cxnLst/>
              <a:rect l="l" t="t" r="r" b="b"/>
              <a:pathLst>
                <a:path w="1023030" h="1023030">
                  <a:moveTo>
                    <a:pt x="0" y="0"/>
                  </a:moveTo>
                  <a:lnTo>
                    <a:pt x="1023031" y="0"/>
                  </a:lnTo>
                  <a:lnTo>
                    <a:pt x="1023031" y="1023030"/>
                  </a:lnTo>
                  <a:lnTo>
                    <a:pt x="0" y="102303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2" name="Freeform 12"/>
            <p:cNvSpPr/>
            <p:nvPr/>
          </p:nvSpPr>
          <p:spPr>
            <a:xfrm>
              <a:off x="914196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3" name="Freeform 13"/>
            <p:cNvSpPr/>
            <p:nvPr/>
          </p:nvSpPr>
          <p:spPr>
            <a:xfrm>
              <a:off x="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grpSp>
      <p:sp>
        <p:nvSpPr>
          <p:cNvPr id="14" name="TextBox 14"/>
          <p:cNvSpPr txBox="1"/>
          <p:nvPr/>
        </p:nvSpPr>
        <p:spPr>
          <a:xfrm>
            <a:off x="1927361" y="2238692"/>
            <a:ext cx="15046171" cy="6886629"/>
          </a:xfrm>
          <a:prstGeom prst="rect">
            <a:avLst/>
          </a:prstGeom>
        </p:spPr>
        <p:txBody>
          <a:bodyPr lIns="0" tIns="0" rIns="0" bIns="0" rtlCol="0" anchor="t">
            <a:spAutoFit/>
          </a:bodyPr>
          <a:lstStyle/>
          <a:p>
            <a:pPr marL="690880" lvl="1" indent="-345440">
              <a:lnSpc>
                <a:spcPts val="4480"/>
              </a:lnSpc>
              <a:buFont typeface="Arial"/>
              <a:buChar char="•"/>
            </a:pPr>
            <a:r>
              <a:rPr lang="en-US" sz="3200" dirty="0">
                <a:solidFill>
                  <a:srgbClr val="FFFFFF"/>
                </a:solidFill>
                <a:latin typeface="Open Sans"/>
              </a:rPr>
              <a:t>Your supervisor emails you to inform you that they have been trying to get in touch with one of your residents because their professor reached out to the Dean of Student’s Office expressing concern for their mental well-being. Your supervisor has attempted to knock on their door and call them, but they haven’t responded. Your supervisor asks you to connect with your resident to assist in getting them connected to resources and responding to outreach attempts. </a:t>
            </a:r>
            <a:endParaRPr lang="en-US" dirty="0"/>
          </a:p>
          <a:p>
            <a:pPr algn="l">
              <a:lnSpc>
                <a:spcPts val="4480"/>
              </a:lnSpc>
            </a:pPr>
            <a:endParaRPr lang="en-US" sz="3200" dirty="0">
              <a:solidFill>
                <a:srgbClr val="FFFFFF"/>
              </a:solidFill>
              <a:latin typeface="Open Sans"/>
            </a:endParaRPr>
          </a:p>
          <a:p>
            <a:pPr marL="1381760" lvl="2" indent="-460375" algn="l">
              <a:lnSpc>
                <a:spcPts val="4480"/>
              </a:lnSpc>
              <a:buFont typeface="Arial"/>
              <a:buChar char="⚬"/>
            </a:pPr>
            <a:r>
              <a:rPr lang="en-US" sz="3200" dirty="0">
                <a:solidFill>
                  <a:srgbClr val="FFFFFF"/>
                </a:solidFill>
                <a:latin typeface="Open Sans Bold"/>
              </a:rPr>
              <a:t>Where would you start?</a:t>
            </a:r>
            <a:endParaRPr lang="en-US" sz="3200" dirty="0">
              <a:solidFill>
                <a:srgbClr val="FFFFFF"/>
              </a:solidFill>
              <a:latin typeface="Open Sans Bold"/>
              <a:ea typeface="Open Sans Bold"/>
              <a:cs typeface="Open Sans Bold"/>
            </a:endParaRPr>
          </a:p>
          <a:p>
            <a:pPr marL="1381760" lvl="2" indent="-460375" algn="l">
              <a:lnSpc>
                <a:spcPts val="4480"/>
              </a:lnSpc>
              <a:buFont typeface="Arial"/>
              <a:buChar char="⚬"/>
            </a:pPr>
            <a:r>
              <a:rPr lang="en-US" sz="3200" dirty="0">
                <a:solidFill>
                  <a:srgbClr val="FFFFFF"/>
                </a:solidFill>
                <a:latin typeface="Open Sans Bold"/>
              </a:rPr>
              <a:t>What would be more applicable, a formal or informal touch point?</a:t>
            </a:r>
            <a:endParaRPr lang="en-US" sz="3200" dirty="0">
              <a:solidFill>
                <a:srgbClr val="FFFFFF"/>
              </a:solidFill>
              <a:latin typeface="Open Sans Bold"/>
              <a:ea typeface="Open Sans Bold"/>
              <a:cs typeface="Open Sans Bold"/>
            </a:endParaRPr>
          </a:p>
          <a:p>
            <a:pPr marL="1381760" lvl="2" indent="-460375" algn="l">
              <a:lnSpc>
                <a:spcPts val="4480"/>
              </a:lnSpc>
              <a:buFont typeface="Arial"/>
              <a:buChar char="⚬"/>
            </a:pPr>
            <a:r>
              <a:rPr lang="en-US" sz="3200" dirty="0">
                <a:solidFill>
                  <a:srgbClr val="FFFFFF"/>
                </a:solidFill>
                <a:latin typeface="Open Sans Bold"/>
              </a:rPr>
              <a:t>What would that touch point look like?</a:t>
            </a:r>
            <a:endParaRPr lang="en-US" sz="3200" dirty="0">
              <a:solidFill>
                <a:srgbClr val="FFFFFF"/>
              </a:solidFill>
              <a:latin typeface="Open Sans Bold"/>
              <a:ea typeface="Open Sans Bold"/>
              <a:cs typeface="Open Sans Bold"/>
            </a:endParaRPr>
          </a:p>
          <a:p>
            <a:pPr marL="1381760" lvl="2" indent="-460375" algn="l">
              <a:lnSpc>
                <a:spcPts val="4480"/>
              </a:lnSpc>
              <a:buFont typeface="Arial"/>
              <a:buChar char="⚬"/>
            </a:pPr>
            <a:r>
              <a:rPr lang="en-US" sz="3200" dirty="0">
                <a:solidFill>
                  <a:srgbClr val="FFFFFF"/>
                </a:solidFill>
                <a:latin typeface="Open Sans Bold"/>
              </a:rPr>
              <a:t>What follow up steps would you consider taking?</a:t>
            </a:r>
            <a:endParaRPr lang="en-US" sz="3200" dirty="0">
              <a:solidFill>
                <a:srgbClr val="FFFFFF"/>
              </a:solidFill>
              <a:latin typeface="Open Sans Bold"/>
              <a:ea typeface="Open Sans Bold"/>
              <a:cs typeface="Open Sans Bold"/>
            </a:endParaRPr>
          </a:p>
        </p:txBody>
      </p:sp>
    </p:spTree>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41C44"/>
        </a:solidFill>
        <a:effectLst/>
      </p:bgPr>
    </p:bg>
    <p:spTree>
      <p:nvGrpSpPr>
        <p:cNvPr id="1" name=""/>
        <p:cNvGrpSpPr/>
        <p:nvPr/>
      </p:nvGrpSpPr>
      <p:grpSpPr>
        <a:xfrm>
          <a:off x="0" y="0"/>
          <a:ext cx="0" cy="0"/>
          <a:chOff x="0" y="0"/>
          <a:chExt cx="0" cy="0"/>
        </a:xfrm>
      </p:grpSpPr>
      <p:sp>
        <p:nvSpPr>
          <p:cNvPr id="2" name="AutoShape 2"/>
          <p:cNvSpPr/>
          <p:nvPr/>
        </p:nvSpPr>
        <p:spPr>
          <a:xfrm>
            <a:off x="-20" y="1009650"/>
            <a:ext cx="18288020" cy="0"/>
          </a:xfrm>
          <a:prstGeom prst="line">
            <a:avLst/>
          </a:prstGeom>
          <a:ln w="38100" cap="rnd">
            <a:solidFill>
              <a:srgbClr val="D9D9D9"/>
            </a:solidFill>
            <a:prstDash val="sysDot"/>
            <a:headEnd type="none" w="sm" len="sm"/>
            <a:tailEnd type="none" w="sm" len="sm"/>
          </a:ln>
        </p:spPr>
        <p:txBody>
          <a:bodyPr/>
          <a:lstStyle/>
          <a:p>
            <a:endParaRPr lang="en-US"/>
          </a:p>
        </p:txBody>
      </p:sp>
      <p:sp>
        <p:nvSpPr>
          <p:cNvPr id="3" name="AutoShape 3"/>
          <p:cNvSpPr/>
          <p:nvPr/>
        </p:nvSpPr>
        <p:spPr>
          <a:xfrm rot="3580">
            <a:off x="-5" y="9229725"/>
            <a:ext cx="18288030" cy="0"/>
          </a:xfrm>
          <a:prstGeom prst="line">
            <a:avLst/>
          </a:prstGeom>
          <a:ln w="38100" cap="rnd">
            <a:solidFill>
              <a:srgbClr val="D9D9D9"/>
            </a:solidFill>
            <a:prstDash val="sysDot"/>
            <a:headEnd type="none" w="sm" len="sm"/>
            <a:tailEnd type="none" w="sm" len="sm"/>
          </a:ln>
        </p:spPr>
        <p:txBody>
          <a:bodyPr/>
          <a:lstStyle/>
          <a:p>
            <a:endParaRPr lang="en-US"/>
          </a:p>
        </p:txBody>
      </p:sp>
      <p:sp>
        <p:nvSpPr>
          <p:cNvPr id="4" name="AutoShape 4"/>
          <p:cNvSpPr/>
          <p:nvPr/>
        </p:nvSpPr>
        <p:spPr>
          <a:xfrm rot="-5406366">
            <a:off x="-4143384" y="5124450"/>
            <a:ext cx="10287018" cy="0"/>
          </a:xfrm>
          <a:prstGeom prst="line">
            <a:avLst/>
          </a:prstGeom>
          <a:ln w="38100" cap="rnd">
            <a:solidFill>
              <a:srgbClr val="D9D9D9"/>
            </a:solidFill>
            <a:prstDash val="sysDot"/>
            <a:headEnd type="none" w="sm" len="sm"/>
            <a:tailEnd type="none" w="sm" len="sm"/>
          </a:ln>
        </p:spPr>
        <p:txBody>
          <a:bodyPr/>
          <a:lstStyle/>
          <a:p>
            <a:endParaRPr lang="en-US"/>
          </a:p>
        </p:txBody>
      </p:sp>
      <p:sp>
        <p:nvSpPr>
          <p:cNvPr id="5" name="AutoShape 5"/>
          <p:cNvSpPr/>
          <p:nvPr/>
        </p:nvSpPr>
        <p:spPr>
          <a:xfrm rot="-5400000">
            <a:off x="12115782" y="5124468"/>
            <a:ext cx="10287035" cy="0"/>
          </a:xfrm>
          <a:prstGeom prst="line">
            <a:avLst/>
          </a:prstGeom>
          <a:ln w="38100" cap="rnd">
            <a:solidFill>
              <a:srgbClr val="D9D9D9"/>
            </a:solidFill>
            <a:prstDash val="sysDot"/>
            <a:headEnd type="none" w="sm" len="sm"/>
            <a:tailEnd type="none" w="sm" len="sm"/>
          </a:ln>
        </p:spPr>
        <p:txBody>
          <a:bodyPr/>
          <a:lstStyle/>
          <a:p>
            <a:endParaRPr lang="en-US"/>
          </a:p>
        </p:txBody>
      </p:sp>
      <p:sp>
        <p:nvSpPr>
          <p:cNvPr id="6" name="TextBox 6"/>
          <p:cNvSpPr txBox="1"/>
          <p:nvPr/>
        </p:nvSpPr>
        <p:spPr>
          <a:xfrm>
            <a:off x="3129283" y="4145618"/>
            <a:ext cx="12029414" cy="1138514"/>
          </a:xfrm>
          <a:prstGeom prst="rect">
            <a:avLst/>
          </a:prstGeom>
        </p:spPr>
        <p:txBody>
          <a:bodyPr lIns="0" tIns="0" rIns="0" bIns="0" rtlCol="0" anchor="t">
            <a:spAutoFit/>
          </a:bodyPr>
          <a:lstStyle/>
          <a:p>
            <a:pPr algn="ctr">
              <a:lnSpc>
                <a:spcPts val="8415"/>
              </a:lnSpc>
            </a:pPr>
            <a:r>
              <a:rPr lang="en-US" sz="8858" spc="310">
                <a:solidFill>
                  <a:srgbClr val="FFFFFF"/>
                </a:solidFill>
                <a:latin typeface="Glacial Indifference"/>
              </a:rPr>
              <a:t>Questions?</a:t>
            </a:r>
          </a:p>
        </p:txBody>
      </p:sp>
      <p:grpSp>
        <p:nvGrpSpPr>
          <p:cNvPr id="7" name="Group 7"/>
          <p:cNvGrpSpPr/>
          <p:nvPr/>
        </p:nvGrpSpPr>
        <p:grpSpPr>
          <a:xfrm rot="-5400000">
            <a:off x="-3976606" y="4759881"/>
            <a:ext cx="9953462" cy="767273"/>
            <a:chOff x="0" y="0"/>
            <a:chExt cx="13271283" cy="1023030"/>
          </a:xfrm>
        </p:grpSpPr>
        <p:sp>
          <p:nvSpPr>
            <p:cNvPr id="8" name="Freeform 8"/>
            <p:cNvSpPr/>
            <p:nvPr/>
          </p:nvSpPr>
          <p:spPr>
            <a:xfrm>
              <a:off x="12248252" y="0"/>
              <a:ext cx="1023030" cy="1023030"/>
            </a:xfrm>
            <a:custGeom>
              <a:avLst/>
              <a:gdLst/>
              <a:ahLst/>
              <a:cxnLst/>
              <a:rect l="l" t="t" r="r" b="b"/>
              <a:pathLst>
                <a:path w="1023030" h="1023030">
                  <a:moveTo>
                    <a:pt x="0" y="0"/>
                  </a:moveTo>
                  <a:lnTo>
                    <a:pt x="1023031" y="0"/>
                  </a:lnTo>
                  <a:lnTo>
                    <a:pt x="1023031" y="1023030"/>
                  </a:lnTo>
                  <a:lnTo>
                    <a:pt x="0" y="10230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3106292"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457098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Freeform 11"/>
            <p:cNvSpPr/>
            <p:nvPr/>
          </p:nvSpPr>
          <p:spPr>
            <a:xfrm>
              <a:off x="7677272" y="0"/>
              <a:ext cx="1023030" cy="1023030"/>
            </a:xfrm>
            <a:custGeom>
              <a:avLst/>
              <a:gdLst/>
              <a:ahLst/>
              <a:cxnLst/>
              <a:rect l="l" t="t" r="r" b="b"/>
              <a:pathLst>
                <a:path w="1023030" h="1023030">
                  <a:moveTo>
                    <a:pt x="0" y="0"/>
                  </a:moveTo>
                  <a:lnTo>
                    <a:pt x="1023031" y="0"/>
                  </a:lnTo>
                  <a:lnTo>
                    <a:pt x="1023031" y="1023030"/>
                  </a:lnTo>
                  <a:lnTo>
                    <a:pt x="0" y="102303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2" name="Freeform 12"/>
            <p:cNvSpPr/>
            <p:nvPr/>
          </p:nvSpPr>
          <p:spPr>
            <a:xfrm>
              <a:off x="914196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3" name="Freeform 13"/>
            <p:cNvSpPr/>
            <p:nvPr/>
          </p:nvSpPr>
          <p:spPr>
            <a:xfrm>
              <a:off x="0" y="0"/>
              <a:ext cx="1023030" cy="1023030"/>
            </a:xfrm>
            <a:custGeom>
              <a:avLst/>
              <a:gdLst/>
              <a:ahLst/>
              <a:cxnLst/>
              <a:rect l="l" t="t" r="r" b="b"/>
              <a:pathLst>
                <a:path w="1023030" h="1023030">
                  <a:moveTo>
                    <a:pt x="0" y="0"/>
                  </a:moveTo>
                  <a:lnTo>
                    <a:pt x="1023030" y="0"/>
                  </a:lnTo>
                  <a:lnTo>
                    <a:pt x="1023030" y="1023030"/>
                  </a:lnTo>
                  <a:lnTo>
                    <a:pt x="0" y="102303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c1908486-17d1-40d9-a386-c5fa3de865d6">
      <Terms xmlns="http://schemas.microsoft.com/office/infopath/2007/PartnerControls"/>
    </lcf76f155ced4ddcb4097134ff3c332f>
    <_ip_UnifiedCompliancePolicyProperties xmlns="http://schemas.microsoft.com/sharepoint/v3" xsi:nil="true"/>
    <TaxCatchAll xmlns="a0f3e94d-dd4d-4bda-b673-9e6e3d3d2ae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C11D9C72B81804F9B9160C499CA1143" ma:contentTypeVersion="22" ma:contentTypeDescription="Create a new document." ma:contentTypeScope="" ma:versionID="fda7876664451f107b6b44d37d0ab4ef">
  <xsd:schema xmlns:xsd="http://www.w3.org/2001/XMLSchema" xmlns:xs="http://www.w3.org/2001/XMLSchema" xmlns:p="http://schemas.microsoft.com/office/2006/metadata/properties" xmlns:ns1="http://schemas.microsoft.com/sharepoint/v3" xmlns:ns2="a0f3e94d-dd4d-4bda-b673-9e6e3d3d2aee" xmlns:ns3="c1908486-17d1-40d9-a386-c5fa3de865d6" targetNamespace="http://schemas.microsoft.com/office/2006/metadata/properties" ma:root="true" ma:fieldsID="0180faab9c839a8e840cd0e665ab885d" ns1:_="" ns2:_="" ns3:_="">
    <xsd:import namespace="http://schemas.microsoft.com/sharepoint/v3"/>
    <xsd:import namespace="a0f3e94d-dd4d-4bda-b673-9e6e3d3d2aee"/>
    <xsd:import namespace="c1908486-17d1-40d9-a386-c5fa3de865d6"/>
    <xsd:element name="properties">
      <xsd:complexType>
        <xsd:sequence>
          <xsd:element name="documentManagement">
            <xsd:complexType>
              <xsd:all>
                <xsd:element ref="ns2:SharedWithUsers" minOccurs="0"/>
                <xsd:element ref="ns2:SharedWithDetails" minOccurs="0"/>
                <xsd:element ref="ns2:LastSharedByUser" minOccurs="0"/>
                <xsd:element ref="ns2:LastSharedByTime" minOccurs="0"/>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MediaServiceEventHashCode" minOccurs="0"/>
                <xsd:element ref="ns3:MediaServiceGenerationTime" minOccurs="0"/>
                <xsd:element ref="ns1:_ip_UnifiedCompliancePolicyProperties" minOccurs="0"/>
                <xsd:element ref="ns1:_ip_UnifiedCompliancePolicyUIAction" minOccurs="0"/>
                <xsd:element ref="ns3:MediaServiceAutoKeyPoints" minOccurs="0"/>
                <xsd:element ref="ns3:MediaServiceKeyPoints"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0f3e94d-dd4d-4bda-b673-9e6e3d3d2aee"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0" nillable="true" ma:displayName="Last Shared By User" ma:description="" ma:internalName="LastSharedByUser" ma:readOnly="true">
      <xsd:simpleType>
        <xsd:restriction base="dms:Note">
          <xsd:maxLength value="255"/>
        </xsd:restriction>
      </xsd:simpleType>
    </xsd:element>
    <xsd:element name="LastSharedByTime" ma:index="11" nillable="true" ma:displayName="Last Shared By Time" ma:description="" ma:internalName="LastSharedByTime" ma:readOnly="true">
      <xsd:simpleType>
        <xsd:restriction base="dms:DateTime"/>
      </xsd:simpleType>
    </xsd:element>
    <xsd:element name="TaxCatchAll" ma:index="27" nillable="true" ma:displayName="Taxonomy Catch All Column" ma:hidden="true" ma:list="{5fbb30bf-e221-442f-8194-11f6c8a8968c}" ma:internalName="TaxCatchAll" ma:showField="CatchAllData" ma:web="a0f3e94d-dd4d-4bda-b673-9e6e3d3d2ae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1908486-17d1-40d9-a386-c5fa3de865d6" elementFormDefault="qualified">
    <xsd:import namespace="http://schemas.microsoft.com/office/2006/documentManagement/types"/>
    <xsd:import namespace="http://schemas.microsoft.com/office/infopath/2007/PartnerControls"/>
    <xsd:element name="MediaServiceMetadata" ma:index="12" nillable="true" ma:displayName="MediaServiceMetadata" ma:description="" ma:hidden="true" ma:internalName="MediaServiceMetadata" ma:readOnly="true">
      <xsd:simpleType>
        <xsd:restriction base="dms:Note"/>
      </xsd:simpleType>
    </xsd:element>
    <xsd:element name="MediaServiceFastMetadata" ma:index="13" nillable="true" ma:displayName="MediaServiceFastMetadata" ma:description="" ma:hidden="true" ma:internalName="MediaServiceFastMetadata" ma:readOnly="true">
      <xsd:simpleType>
        <xsd:restriction base="dms:Note"/>
      </xsd:simpleType>
    </xsd:element>
    <xsd:element name="MediaServiceDateTaken" ma:index="14" nillable="true" ma:displayName="MediaServiceDateTaken" ma:description="" ma:hidden="true" ma:internalName="MediaServiceDateTaken" ma:readOnly="true">
      <xsd:simpleType>
        <xsd:restriction base="dms:Text"/>
      </xsd:simpleType>
    </xsd:element>
    <xsd:element name="MediaServiceAutoTags" ma:index="15" nillable="true" ma:displayName="MediaServiceAutoTags" ma:description="" ma:internalName="MediaServiceAutoTags" ma:readOnly="true">
      <xsd:simpleType>
        <xsd:restriction base="dms:Text"/>
      </xsd:simpleType>
    </xsd:element>
    <xsd:element name="MediaServiceLocation" ma:index="16" nillable="true" ma:displayName="MediaServiceLocation" ma:description="" ma:internalName="MediaServiceLocation" ma:readOnly="true">
      <xsd:simpleType>
        <xsd:restriction base="dms:Text"/>
      </xsd:simpleType>
    </xsd:element>
    <xsd:element name="MediaServiceOCR" ma:index="17" nillable="true" ma:displayName="MediaServiceOCR" ma:internalName="MediaServiceOCR" ma:readOnly="true">
      <xsd:simpleType>
        <xsd:restriction base="dms:Note">
          <xsd:maxLength value="255"/>
        </xsd:restriction>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AutoKeyPoints" ma:index="22" nillable="true" ma:displayName="MediaServiceAutoKeyPoints" ma:hidden="true" ma:internalName="MediaServiceAutoKeyPoints" ma:readOnly="true">
      <xsd:simpleType>
        <xsd:restriction base="dms:Note"/>
      </xsd:simpleType>
    </xsd:element>
    <xsd:element name="MediaServiceKeyPoints" ma:index="23" nillable="true" ma:displayName="KeyPoints" ma:internalName="MediaServiceKeyPoints" ma:readOnly="true">
      <xsd:simpleType>
        <xsd:restriction base="dms:Note">
          <xsd:maxLength value="255"/>
        </xsd:restriction>
      </xsd:simpleType>
    </xsd:element>
    <xsd:element name="MediaLengthInSeconds" ma:index="24" nillable="true" ma:displayName="Length (seconds)"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dcee5600-72b7-41b8-b2c9-cf525e97d24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A9B094A-92C0-4ACE-AFB6-F7C2DE3DEA03}">
  <ds:schemaRefs>
    <ds:schemaRef ds:uri="a0f3e94d-dd4d-4bda-b673-9e6e3d3d2aee"/>
    <ds:schemaRef ds:uri="c1908486-17d1-40d9-a386-c5fa3de865d6"/>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4E249E86-5B83-4CFB-A668-3500953437DB}">
  <ds:schemaRefs>
    <ds:schemaRef ds:uri="a0f3e94d-dd4d-4bda-b673-9e6e3d3d2aee"/>
    <ds:schemaRef ds:uri="c1908486-17d1-40d9-a386-c5fa3de865d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79D015C-1EDA-4FFD-B5CF-69D0F2C1D74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728</Words>
  <Application>Microsoft Office PowerPoint</Application>
  <PresentationFormat>Custom</PresentationFormat>
  <Paragraphs>110</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Creating Connections &amp; Touch Points 24-25</dc:title>
  <dc:creator>Casey, Tyler</dc:creator>
  <cp:lastModifiedBy>Thompson, Erica K.</cp:lastModifiedBy>
  <cp:revision>31</cp:revision>
  <dcterms:created xsi:type="dcterms:W3CDTF">2006-08-16T00:00:00Z</dcterms:created>
  <dcterms:modified xsi:type="dcterms:W3CDTF">2025-07-23T16:29:34Z</dcterms:modified>
  <dc:identifier>DAGDK6YrI4o</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0x010100EC11D9C72B81804F9B9160C499CA1143</vt:lpwstr>
  </property>
  <property fmtid="{D5CDD505-2E9C-101B-9397-08002B2CF9AE}" pid="3" name="MediaServiceImageTags">
    <vt:lpwstr/>
  </property>
</Properties>
</file>